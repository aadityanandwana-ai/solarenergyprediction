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Gotham" charset="1" panose="00000000000000000000"/>
      <p:regular r:id="rId25"/>
    </p:embeddedFont>
    <p:embeddedFont>
      <p:font typeface="Gotham Heavy" charset="1" panose="02000900000000000000"/>
      <p:regular r:id="rId26"/>
    </p:embeddedFont>
    <p:embeddedFont>
      <p:font typeface="Gotham Bold" charset="1" panose="00000000000000000000"/>
      <p:regular r:id="rId27"/>
    </p:embeddedFont>
    <p:embeddedFont>
      <p:font typeface="Droid Serif" charset="1" panose="02020600060500020200"/>
      <p:regular r:id="rId28"/>
    </p:embeddedFont>
    <p:embeddedFont>
      <p:font typeface="Garet" charset="1" panose="00000000000000000000"/>
      <p:regular r:id="rId29"/>
    </p:embeddedFont>
    <p:embeddedFont>
      <p:font typeface="Garet Bold" charset="1" panose="00000000000000000000"/>
      <p:regular r:id="rId30"/>
    </p:embeddedFont>
    <p:embeddedFont>
      <p:font typeface="Playfair Display Italics" charset="1" panose="000005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 Id="rId4" Target="../media/image12.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jpeg" Type="http://schemas.openxmlformats.org/officeDocument/2006/relationships/image"/><Relationship Id="rId4" Target="../media/image22.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jpeg" Type="http://schemas.openxmlformats.org/officeDocument/2006/relationships/image"/><Relationship Id="rId4" Target="../media/image29.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image31.jpeg" Type="http://schemas.openxmlformats.org/officeDocument/2006/relationships/image"/><Relationship Id="rId4" Target="../media/image32.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34.jpeg" Type="http://schemas.openxmlformats.org/officeDocument/2006/relationships/image"/><Relationship Id="rId4" Target="../media/image35.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7.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jpeg" Type="http://schemas.openxmlformats.org/officeDocument/2006/relationships/image"/><Relationship Id="rId3" Target="../media/image39.jpeg" Type="http://schemas.openxmlformats.org/officeDocument/2006/relationships/image"/><Relationship Id="rId4" Target="../media/image40.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168302" y="-1384391"/>
            <a:ext cx="9696367" cy="11283045"/>
            <a:chOff x="0" y="0"/>
            <a:chExt cx="698500" cy="812800"/>
          </a:xfrm>
        </p:grpSpPr>
        <p:sp>
          <p:nvSpPr>
            <p:cNvPr name="Freeform 3" id="3"/>
            <p:cNvSpPr/>
            <p:nvPr/>
          </p:nvSpPr>
          <p:spPr>
            <a:xfrm flipH="false" flipV="false" rot="0">
              <a:off x="0" y="5367"/>
              <a:ext cx="698500" cy="802065"/>
            </a:xfrm>
            <a:custGeom>
              <a:avLst/>
              <a:gdLst/>
              <a:ahLst/>
              <a:cxnLst/>
              <a:rect r="r" b="b" t="t" l="l"/>
              <a:pathLst>
                <a:path h="802065" w="698500">
                  <a:moveTo>
                    <a:pt x="366449" y="4640"/>
                  </a:moveTo>
                  <a:lnTo>
                    <a:pt x="681301" y="187826"/>
                  </a:lnTo>
                  <a:cubicBezTo>
                    <a:pt x="691949" y="194022"/>
                    <a:pt x="698500" y="205412"/>
                    <a:pt x="698500" y="217731"/>
                  </a:cubicBezTo>
                  <a:lnTo>
                    <a:pt x="698500" y="584335"/>
                  </a:lnTo>
                  <a:cubicBezTo>
                    <a:pt x="698500" y="596654"/>
                    <a:pt x="691949" y="608044"/>
                    <a:pt x="681301" y="614240"/>
                  </a:cubicBezTo>
                  <a:lnTo>
                    <a:pt x="366449" y="797426"/>
                  </a:lnTo>
                  <a:cubicBezTo>
                    <a:pt x="355817" y="803612"/>
                    <a:pt x="342683" y="803612"/>
                    <a:pt x="332051" y="797426"/>
                  </a:cubicBezTo>
                  <a:lnTo>
                    <a:pt x="17199" y="614240"/>
                  </a:lnTo>
                  <a:cubicBezTo>
                    <a:pt x="6551" y="608044"/>
                    <a:pt x="0" y="596654"/>
                    <a:pt x="0" y="584335"/>
                  </a:cubicBezTo>
                  <a:lnTo>
                    <a:pt x="0" y="217731"/>
                  </a:lnTo>
                  <a:cubicBezTo>
                    <a:pt x="0" y="205412"/>
                    <a:pt x="6551" y="194022"/>
                    <a:pt x="17199" y="187826"/>
                  </a:cubicBezTo>
                  <a:lnTo>
                    <a:pt x="332051" y="4640"/>
                  </a:lnTo>
                  <a:cubicBezTo>
                    <a:pt x="342683" y="-1546"/>
                    <a:pt x="355817" y="-1546"/>
                    <a:pt x="366449" y="4640"/>
                  </a:cubicBezTo>
                  <a:close/>
                </a:path>
              </a:pathLst>
            </a:custGeom>
            <a:solidFill>
              <a:srgbClr val="08A54C"/>
            </a:solidFill>
          </p:spPr>
        </p:sp>
        <p:sp>
          <p:nvSpPr>
            <p:cNvPr name="TextBox 4" id="4"/>
            <p:cNvSpPr txBox="true"/>
            <p:nvPr/>
          </p:nvSpPr>
          <p:spPr>
            <a:xfrm>
              <a:off x="0" y="63500"/>
              <a:ext cx="698500" cy="6096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10411698" y="357487"/>
            <a:ext cx="9515977" cy="11073137"/>
            <a:chOff x="0" y="0"/>
            <a:chExt cx="698500" cy="812800"/>
          </a:xfrm>
        </p:grpSpPr>
        <p:sp>
          <p:nvSpPr>
            <p:cNvPr name="Freeform 6" id="6"/>
            <p:cNvSpPr/>
            <p:nvPr/>
          </p:nvSpPr>
          <p:spPr>
            <a:xfrm flipH="false" flipV="false" rot="0">
              <a:off x="0" y="6035"/>
              <a:ext cx="698500" cy="800730"/>
            </a:xfrm>
            <a:custGeom>
              <a:avLst/>
              <a:gdLst/>
              <a:ahLst/>
              <a:cxnLst/>
              <a:rect r="r" b="b" t="t" l="l"/>
              <a:pathLst>
                <a:path h="800730" w="698500">
                  <a:moveTo>
                    <a:pt x="368588" y="5216"/>
                  </a:moveTo>
                  <a:lnTo>
                    <a:pt x="679162" y="185914"/>
                  </a:lnTo>
                  <a:cubicBezTo>
                    <a:pt x="691135" y="192880"/>
                    <a:pt x="698500" y="205686"/>
                    <a:pt x="698500" y="219538"/>
                  </a:cubicBezTo>
                  <a:lnTo>
                    <a:pt x="698500" y="581192"/>
                  </a:lnTo>
                  <a:cubicBezTo>
                    <a:pt x="698500" y="595044"/>
                    <a:pt x="691135" y="607850"/>
                    <a:pt x="679162" y="614816"/>
                  </a:cubicBezTo>
                  <a:lnTo>
                    <a:pt x="368588" y="795514"/>
                  </a:lnTo>
                  <a:cubicBezTo>
                    <a:pt x="356634" y="802469"/>
                    <a:pt x="341866" y="802469"/>
                    <a:pt x="329912" y="795514"/>
                  </a:cubicBezTo>
                  <a:lnTo>
                    <a:pt x="19338" y="614816"/>
                  </a:lnTo>
                  <a:cubicBezTo>
                    <a:pt x="7366" y="607850"/>
                    <a:pt x="0" y="595044"/>
                    <a:pt x="0" y="581192"/>
                  </a:cubicBezTo>
                  <a:lnTo>
                    <a:pt x="0" y="219538"/>
                  </a:lnTo>
                  <a:cubicBezTo>
                    <a:pt x="0" y="205686"/>
                    <a:pt x="7366" y="192880"/>
                    <a:pt x="19338" y="185914"/>
                  </a:cubicBezTo>
                  <a:lnTo>
                    <a:pt x="329912" y="5216"/>
                  </a:lnTo>
                  <a:cubicBezTo>
                    <a:pt x="341866" y="-1739"/>
                    <a:pt x="356634" y="-1739"/>
                    <a:pt x="368588" y="5216"/>
                  </a:cubicBezTo>
                  <a:close/>
                </a:path>
              </a:pathLst>
            </a:custGeom>
            <a:blipFill>
              <a:blip r:embed="rId2"/>
              <a:stretch>
                <a:fillRect l="0" t="-3930" r="0" b="-3930"/>
              </a:stretch>
            </a:blipFill>
          </p:spPr>
        </p:sp>
      </p:grpSp>
      <p:grpSp>
        <p:nvGrpSpPr>
          <p:cNvPr name="Group 7" id="7"/>
          <p:cNvGrpSpPr/>
          <p:nvPr/>
        </p:nvGrpSpPr>
        <p:grpSpPr>
          <a:xfrm rot="1858779">
            <a:off x="11507826" y="8885687"/>
            <a:ext cx="6093603" cy="1173139"/>
            <a:chOff x="0" y="0"/>
            <a:chExt cx="2110952" cy="406400"/>
          </a:xfrm>
        </p:grpSpPr>
        <p:sp>
          <p:nvSpPr>
            <p:cNvPr name="Freeform 8" id="8"/>
            <p:cNvSpPr/>
            <p:nvPr/>
          </p:nvSpPr>
          <p:spPr>
            <a:xfrm flipH="false" flipV="false" rot="0">
              <a:off x="0" y="0"/>
              <a:ext cx="2110952" cy="406400"/>
            </a:xfrm>
            <a:custGeom>
              <a:avLst/>
              <a:gdLst/>
              <a:ahLst/>
              <a:cxnLst/>
              <a:rect r="r" b="b" t="t" l="l"/>
              <a:pathLst>
                <a:path h="406400" w="2110952">
                  <a:moveTo>
                    <a:pt x="1907752" y="0"/>
                  </a:moveTo>
                  <a:cubicBezTo>
                    <a:pt x="2019976" y="0"/>
                    <a:pt x="2110952" y="90976"/>
                    <a:pt x="2110952" y="203200"/>
                  </a:cubicBezTo>
                  <a:cubicBezTo>
                    <a:pt x="2110952" y="315424"/>
                    <a:pt x="2019976" y="406400"/>
                    <a:pt x="1907752" y="406400"/>
                  </a:cubicBezTo>
                  <a:lnTo>
                    <a:pt x="203200" y="406400"/>
                  </a:lnTo>
                  <a:cubicBezTo>
                    <a:pt x="90976" y="406400"/>
                    <a:pt x="0" y="315424"/>
                    <a:pt x="0" y="203200"/>
                  </a:cubicBezTo>
                  <a:cubicBezTo>
                    <a:pt x="0" y="90976"/>
                    <a:pt x="90976" y="0"/>
                    <a:pt x="203200" y="0"/>
                  </a:cubicBezTo>
                  <a:close/>
                </a:path>
              </a:pathLst>
            </a:custGeom>
            <a:solidFill>
              <a:srgbClr val="F1C60B"/>
            </a:solidFill>
          </p:spPr>
        </p:sp>
        <p:sp>
          <p:nvSpPr>
            <p:cNvPr name="TextBox 9" id="9"/>
            <p:cNvSpPr txBox="true"/>
            <p:nvPr/>
          </p:nvSpPr>
          <p:spPr>
            <a:xfrm>
              <a:off x="0" y="-76200"/>
              <a:ext cx="2110952" cy="482600"/>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540532" y="8694910"/>
            <a:ext cx="1050645" cy="1222569"/>
            <a:chOff x="0" y="0"/>
            <a:chExt cx="698500" cy="812800"/>
          </a:xfrm>
        </p:grpSpPr>
        <p:sp>
          <p:nvSpPr>
            <p:cNvPr name="Freeform 11" id="11"/>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2" id="12"/>
            <p:cNvSpPr txBox="true"/>
            <p:nvPr/>
          </p:nvSpPr>
          <p:spPr>
            <a:xfrm>
              <a:off x="0" y="101600"/>
              <a:ext cx="698500" cy="571500"/>
            </a:xfrm>
            <a:prstGeom prst="rect">
              <a:avLst/>
            </a:prstGeom>
          </p:spPr>
          <p:txBody>
            <a:bodyPr anchor="ctr" rtlCol="false" tIns="50800" lIns="50800" bIns="50800" rIns="50800"/>
            <a:lstStyle/>
            <a:p>
              <a:pPr algn="ctr" marL="0" indent="0" lvl="0">
                <a:lnSpc>
                  <a:spcPts val="2111"/>
                </a:lnSpc>
              </a:pPr>
              <a:r>
                <a:rPr lang="en-US" sz="1508">
                  <a:solidFill>
                    <a:srgbClr val="FFFFFF"/>
                  </a:solidFill>
                  <a:latin typeface="Gotham"/>
                  <a:ea typeface="Gotham"/>
                  <a:cs typeface="Gotham"/>
                  <a:sym typeface="Gotham"/>
                </a:rPr>
                <a:t>01</a:t>
              </a:r>
            </a:p>
          </p:txBody>
        </p:sp>
      </p:grpSp>
      <p:sp>
        <p:nvSpPr>
          <p:cNvPr name="Freeform 13" id="13"/>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9760922" y="7956747"/>
            <a:ext cx="1301553" cy="130155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9550" cap="sq">
              <a:solidFill>
                <a:srgbClr val="08A54C"/>
              </a:solidFill>
              <a:prstDash val="solid"/>
              <a:miter/>
            </a:ln>
          </p:spPr>
        </p:sp>
        <p:sp>
          <p:nvSpPr>
            <p:cNvPr name="TextBox 16" id="16"/>
            <p:cNvSpPr txBox="true"/>
            <p:nvPr/>
          </p:nvSpPr>
          <p:spPr>
            <a:xfrm>
              <a:off x="76200" y="0"/>
              <a:ext cx="660400" cy="736600"/>
            </a:xfrm>
            <a:prstGeom prst="rect">
              <a:avLst/>
            </a:prstGeom>
          </p:spPr>
          <p:txBody>
            <a:bodyPr anchor="ctr" rtlCol="false" tIns="50800" lIns="50800" bIns="50800" rIns="50800"/>
            <a:lstStyle/>
            <a:p>
              <a:pPr algn="ctr" marL="0" indent="0" lvl="0">
                <a:lnSpc>
                  <a:spcPts val="2659"/>
                </a:lnSpc>
              </a:pPr>
            </a:p>
          </p:txBody>
        </p:sp>
      </p:grpSp>
      <p:sp>
        <p:nvSpPr>
          <p:cNvPr name="TextBox 17" id="17"/>
          <p:cNvSpPr txBox="true"/>
          <p:nvPr/>
        </p:nvSpPr>
        <p:spPr>
          <a:xfrm rot="0">
            <a:off x="1355401" y="2782697"/>
            <a:ext cx="7376846" cy="2501738"/>
          </a:xfrm>
          <a:prstGeom prst="rect">
            <a:avLst/>
          </a:prstGeom>
        </p:spPr>
        <p:txBody>
          <a:bodyPr anchor="t" rtlCol="false" tIns="0" lIns="0" bIns="0" rIns="0">
            <a:spAutoFit/>
          </a:bodyPr>
          <a:lstStyle/>
          <a:p>
            <a:pPr algn="l" marL="0" indent="0" lvl="0">
              <a:lnSpc>
                <a:spcPts val="4873"/>
              </a:lnSpc>
            </a:pPr>
            <a:r>
              <a:rPr lang="en-US" b="true" sz="5602" spc="-168">
                <a:solidFill>
                  <a:srgbClr val="08A54C"/>
                </a:solidFill>
                <a:latin typeface="Gotham Heavy"/>
                <a:ea typeface="Gotham Heavy"/>
                <a:cs typeface="Gotham Heavy"/>
                <a:sym typeface="Gotham Heavy"/>
              </a:rPr>
              <a:t>SOLAR ENERGY</a:t>
            </a:r>
          </a:p>
          <a:p>
            <a:pPr algn="l" marL="0" indent="0" lvl="0">
              <a:lnSpc>
                <a:spcPts val="4873"/>
              </a:lnSpc>
            </a:pPr>
            <a:r>
              <a:rPr lang="en-US" b="true" sz="5602" spc="-168">
                <a:solidFill>
                  <a:srgbClr val="08A54C"/>
                </a:solidFill>
                <a:latin typeface="Gotham Heavy"/>
                <a:ea typeface="Gotham Heavy"/>
                <a:cs typeface="Gotham Heavy"/>
                <a:sym typeface="Gotham Heavy"/>
              </a:rPr>
              <a:t>PRODUCTION</a:t>
            </a:r>
          </a:p>
          <a:p>
            <a:pPr algn="l" marL="0" indent="0" lvl="0">
              <a:lnSpc>
                <a:spcPts val="4873"/>
              </a:lnSpc>
            </a:pPr>
            <a:r>
              <a:rPr lang="en-US" b="true" sz="5602" spc="-168">
                <a:solidFill>
                  <a:srgbClr val="08A54C"/>
                </a:solidFill>
                <a:latin typeface="Gotham Heavy"/>
                <a:ea typeface="Gotham Heavy"/>
                <a:cs typeface="Gotham Heavy"/>
                <a:sym typeface="Gotham Heavy"/>
              </a:rPr>
              <a:t>CLUSTERING</a:t>
            </a:r>
          </a:p>
          <a:p>
            <a:pPr algn="l" marL="0" indent="0" lvl="0">
              <a:lnSpc>
                <a:spcPts val="4873"/>
              </a:lnSpc>
            </a:pPr>
            <a:r>
              <a:rPr lang="en-US" b="true" sz="5602" spc="-168">
                <a:solidFill>
                  <a:srgbClr val="08A54C"/>
                </a:solidFill>
                <a:latin typeface="Gotham Heavy"/>
                <a:ea typeface="Gotham Heavy"/>
                <a:cs typeface="Gotham Heavy"/>
                <a:sym typeface="Gotham Heavy"/>
              </a:rPr>
              <a:t>ANALYSIS</a:t>
            </a:r>
          </a:p>
        </p:txBody>
      </p:sp>
      <p:sp>
        <p:nvSpPr>
          <p:cNvPr name="TextBox 18" id="18"/>
          <p:cNvSpPr txBox="true"/>
          <p:nvPr/>
        </p:nvSpPr>
        <p:spPr>
          <a:xfrm rot="0">
            <a:off x="1355401" y="6438012"/>
            <a:ext cx="7376846" cy="299117"/>
          </a:xfrm>
          <a:prstGeom prst="rect">
            <a:avLst/>
          </a:prstGeom>
        </p:spPr>
        <p:txBody>
          <a:bodyPr anchor="t" rtlCol="false" tIns="0" lIns="0" bIns="0" rIns="0">
            <a:spAutoFit/>
          </a:bodyPr>
          <a:lstStyle/>
          <a:p>
            <a:pPr algn="l" marL="0" indent="0" lvl="0">
              <a:lnSpc>
                <a:spcPts val="2413"/>
              </a:lnSpc>
              <a:spcBef>
                <a:spcPct val="0"/>
              </a:spcBef>
            </a:pPr>
            <a:r>
              <a:rPr lang="en-US" b="true" sz="1723" spc="-51">
                <a:solidFill>
                  <a:srgbClr val="000000"/>
                </a:solidFill>
                <a:latin typeface="Gotham Bold"/>
                <a:ea typeface="Gotham Bold"/>
                <a:cs typeface="Gotham Bold"/>
                <a:sym typeface="Gotham Bold"/>
              </a:rPr>
              <a:t>DATA-DRIVEN IDENTIFICATION OF HIGH-POTENTIAL SOLAR ZONES</a:t>
            </a:r>
          </a:p>
        </p:txBody>
      </p:sp>
      <p:sp>
        <p:nvSpPr>
          <p:cNvPr name="TextBox 19" id="19"/>
          <p:cNvSpPr txBox="true"/>
          <p:nvPr/>
        </p:nvSpPr>
        <p:spPr>
          <a:xfrm rot="0">
            <a:off x="2469550" y="7289038"/>
            <a:ext cx="4071059" cy="224338"/>
          </a:xfrm>
          <a:prstGeom prst="rect">
            <a:avLst/>
          </a:prstGeom>
        </p:spPr>
        <p:txBody>
          <a:bodyPr anchor="t" rtlCol="false" tIns="0" lIns="0" bIns="0" rIns="0">
            <a:spAutoFit/>
          </a:bodyPr>
          <a:lstStyle/>
          <a:p>
            <a:pPr algn="l" marL="0" indent="0" lvl="0">
              <a:lnSpc>
                <a:spcPts val="1809"/>
              </a:lnSpc>
              <a:spcBef>
                <a:spcPct val="0"/>
              </a:spcBef>
            </a:pPr>
            <a:r>
              <a:rPr lang="en-US" b="true" sz="1292" spc="517">
                <a:solidFill>
                  <a:srgbClr val="08A54C"/>
                </a:solidFill>
                <a:latin typeface="Gotham Bold"/>
                <a:ea typeface="Gotham Bold"/>
                <a:cs typeface="Gotham Bold"/>
                <a:sym typeface="Gotham Bold"/>
              </a:rPr>
              <a:t>AADITYA NANDWANA</a:t>
            </a:r>
          </a:p>
        </p:txBody>
      </p:sp>
      <p:sp>
        <p:nvSpPr>
          <p:cNvPr name="AutoShape 20" id="20"/>
          <p:cNvSpPr/>
          <p:nvPr/>
        </p:nvSpPr>
        <p:spPr>
          <a:xfrm flipV="true">
            <a:off x="1355401" y="7496683"/>
            <a:ext cx="960043" cy="0"/>
          </a:xfrm>
          <a:prstGeom prst="line">
            <a:avLst/>
          </a:prstGeom>
          <a:ln cap="flat" w="38100">
            <a:solidFill>
              <a:srgbClr val="08A54C"/>
            </a:solidFill>
            <a:prstDash val="solid"/>
            <a:headEnd type="none" len="sm" w="sm"/>
            <a:tailEnd type="arrow" len="sm" w="med"/>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24140" y="0"/>
            <a:ext cx="7963860" cy="10287000"/>
            <a:chOff x="0" y="0"/>
            <a:chExt cx="10618480" cy="13716000"/>
          </a:xfrm>
        </p:grpSpPr>
        <p:pic>
          <p:nvPicPr>
            <p:cNvPr name="Picture 3" id="3"/>
            <p:cNvPicPr>
              <a:picLocks noChangeAspect="true"/>
            </p:cNvPicPr>
            <p:nvPr/>
          </p:nvPicPr>
          <p:blipFill>
            <a:blip r:embed="rId2"/>
            <a:srcRect l="0" t="1803" r="0" b="1803"/>
            <a:stretch>
              <a:fillRect/>
            </a:stretch>
          </p:blipFill>
          <p:spPr>
            <a:xfrm flipH="false" flipV="false">
              <a:off x="0" y="0"/>
              <a:ext cx="10618480" cy="13716000"/>
            </a:xfrm>
            <a:prstGeom prst="rect">
              <a:avLst/>
            </a:prstGeom>
          </p:spPr>
        </p:pic>
      </p:grpSp>
      <p:grpSp>
        <p:nvGrpSpPr>
          <p:cNvPr name="Group 4" id="4"/>
          <p:cNvGrpSpPr/>
          <p:nvPr/>
        </p:nvGrpSpPr>
        <p:grpSpPr>
          <a:xfrm rot="0">
            <a:off x="10324140" y="5739795"/>
            <a:ext cx="7433852" cy="3243613"/>
            <a:chOff x="0" y="0"/>
            <a:chExt cx="1957887" cy="854285"/>
          </a:xfrm>
        </p:grpSpPr>
        <p:sp>
          <p:nvSpPr>
            <p:cNvPr name="Freeform 5" id="5"/>
            <p:cNvSpPr/>
            <p:nvPr/>
          </p:nvSpPr>
          <p:spPr>
            <a:xfrm flipH="false" flipV="false" rot="0">
              <a:off x="0" y="0"/>
              <a:ext cx="1957887" cy="854285"/>
            </a:xfrm>
            <a:custGeom>
              <a:avLst/>
              <a:gdLst/>
              <a:ahLst/>
              <a:cxnLst/>
              <a:rect r="r" b="b" t="t" l="l"/>
              <a:pathLst>
                <a:path h="854285" w="1957887">
                  <a:moveTo>
                    <a:pt x="0" y="0"/>
                  </a:moveTo>
                  <a:lnTo>
                    <a:pt x="1957887" y="0"/>
                  </a:lnTo>
                  <a:lnTo>
                    <a:pt x="1957887" y="854285"/>
                  </a:lnTo>
                  <a:lnTo>
                    <a:pt x="0" y="854285"/>
                  </a:lnTo>
                  <a:close/>
                </a:path>
              </a:pathLst>
            </a:custGeom>
            <a:solidFill>
              <a:srgbClr val="08A54C"/>
            </a:solidFill>
            <a:ln cap="sq">
              <a:noFill/>
              <a:prstDash val="solid"/>
              <a:miter/>
            </a:ln>
          </p:spPr>
        </p:sp>
        <p:sp>
          <p:nvSpPr>
            <p:cNvPr name="TextBox 6" id="6"/>
            <p:cNvSpPr txBox="true"/>
            <p:nvPr/>
          </p:nvSpPr>
          <p:spPr>
            <a:xfrm>
              <a:off x="0" y="-47625"/>
              <a:ext cx="1957887" cy="901910"/>
            </a:xfrm>
            <a:prstGeom prst="rect">
              <a:avLst/>
            </a:prstGeom>
          </p:spPr>
          <p:txBody>
            <a:bodyPr anchor="ctr" rtlCol="false" tIns="50800" lIns="50800" bIns="50800" rIns="50800"/>
            <a:lstStyle/>
            <a:p>
              <a:pPr algn="ctr" marL="0" indent="0" lvl="0">
                <a:lnSpc>
                  <a:spcPts val="2659"/>
                </a:lnSpc>
              </a:pPr>
            </a:p>
          </p:txBody>
        </p:sp>
      </p:grpSp>
      <p:sp>
        <p:nvSpPr>
          <p:cNvPr name="Freeform 7" id="7"/>
          <p:cNvSpPr/>
          <p:nvPr/>
        </p:nvSpPr>
        <p:spPr>
          <a:xfrm flipH="false" flipV="false" rot="0">
            <a:off x="10948093" y="5390578"/>
            <a:ext cx="1093985" cy="739765"/>
          </a:xfrm>
          <a:custGeom>
            <a:avLst/>
            <a:gdLst/>
            <a:ahLst/>
            <a:cxnLst/>
            <a:rect r="r" b="b" t="t" l="l"/>
            <a:pathLst>
              <a:path h="739765" w="1093985">
                <a:moveTo>
                  <a:pt x="0" y="0"/>
                </a:moveTo>
                <a:lnTo>
                  <a:pt x="1093984" y="0"/>
                </a:lnTo>
                <a:lnTo>
                  <a:pt x="1093984" y="739765"/>
                </a:lnTo>
                <a:lnTo>
                  <a:pt x="0" y="739765"/>
                </a:lnTo>
                <a:lnTo>
                  <a:pt x="0" y="0"/>
                </a:lnTo>
                <a:close/>
              </a:path>
            </a:pathLst>
          </a:custGeom>
          <a:blipFill>
            <a:blip r:embed="rId3"/>
            <a:stretch>
              <a:fillRect l="0" t="0" r="0" b="0"/>
            </a:stretch>
          </a:blipFill>
        </p:spPr>
      </p:sp>
      <p:sp>
        <p:nvSpPr>
          <p:cNvPr name="TextBox 8" id="8"/>
          <p:cNvSpPr txBox="true"/>
          <p:nvPr/>
        </p:nvSpPr>
        <p:spPr>
          <a:xfrm rot="0">
            <a:off x="10998978" y="6513877"/>
            <a:ext cx="6084176" cy="1571625"/>
          </a:xfrm>
          <a:prstGeom prst="rect">
            <a:avLst/>
          </a:prstGeom>
        </p:spPr>
        <p:txBody>
          <a:bodyPr anchor="t" rtlCol="false" tIns="0" lIns="0" bIns="0" rIns="0">
            <a:spAutoFit/>
          </a:bodyPr>
          <a:lstStyle/>
          <a:p>
            <a:pPr algn="l" marL="0" indent="0" lvl="0">
              <a:lnSpc>
                <a:spcPts val="3146"/>
              </a:lnSpc>
            </a:pPr>
            <a:r>
              <a:rPr lang="en-US" sz="2622" spc="26">
                <a:solidFill>
                  <a:srgbClr val="FFFFFF"/>
                </a:solidFill>
                <a:latin typeface="Droid Serif"/>
                <a:ea typeface="Droid Serif"/>
                <a:cs typeface="Droid Serif"/>
                <a:sym typeface="Droid Serif"/>
              </a:rPr>
              <a:t>Our goal is to transform raw solar data into actionable insights that guide investment priorities and optimize solar deployment strategies.</a:t>
            </a:r>
          </a:p>
        </p:txBody>
      </p:sp>
      <p:grpSp>
        <p:nvGrpSpPr>
          <p:cNvPr name="Group 9" id="9"/>
          <p:cNvGrpSpPr/>
          <p:nvPr/>
        </p:nvGrpSpPr>
        <p:grpSpPr>
          <a:xfrm rot="0">
            <a:off x="540532" y="8694910"/>
            <a:ext cx="1050645" cy="1222569"/>
            <a:chOff x="0" y="0"/>
            <a:chExt cx="698500" cy="812800"/>
          </a:xfrm>
        </p:grpSpPr>
        <p:sp>
          <p:nvSpPr>
            <p:cNvPr name="Freeform 10" id="10"/>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1" id="11"/>
            <p:cNvSpPr txBox="true"/>
            <p:nvPr/>
          </p:nvSpPr>
          <p:spPr>
            <a:xfrm>
              <a:off x="0" y="92075"/>
              <a:ext cx="698500" cy="581025"/>
            </a:xfrm>
            <a:prstGeom prst="rect">
              <a:avLst/>
            </a:prstGeom>
          </p:spPr>
          <p:txBody>
            <a:bodyPr anchor="ctr" rtlCol="false" tIns="50800" lIns="50800" bIns="50800" rIns="50800"/>
            <a:lstStyle/>
            <a:p>
              <a:pPr algn="ctr" marL="0" indent="0" lvl="0">
                <a:lnSpc>
                  <a:spcPts val="3671"/>
                </a:lnSpc>
              </a:pPr>
              <a:r>
                <a:rPr lang="en-US" sz="2622">
                  <a:solidFill>
                    <a:srgbClr val="FFFFFF"/>
                  </a:solidFill>
                  <a:latin typeface="Gotham"/>
                  <a:ea typeface="Gotham"/>
                  <a:cs typeface="Gotham"/>
                  <a:sym typeface="Gotham"/>
                </a:rPr>
                <a:t>02</a:t>
              </a:r>
            </a:p>
          </p:txBody>
        </p:sp>
      </p:grpSp>
      <p:sp>
        <p:nvSpPr>
          <p:cNvPr name="Freeform 12" id="12"/>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355401" y="2632657"/>
            <a:ext cx="7788599" cy="1762940"/>
          </a:xfrm>
          <a:prstGeom prst="rect">
            <a:avLst/>
          </a:prstGeom>
        </p:spPr>
        <p:txBody>
          <a:bodyPr anchor="t" rtlCol="false" tIns="0" lIns="0" bIns="0" rIns="0">
            <a:spAutoFit/>
          </a:bodyPr>
          <a:lstStyle/>
          <a:p>
            <a:pPr algn="l" marL="0" indent="0" lvl="0">
              <a:lnSpc>
                <a:spcPts val="6843"/>
              </a:lnSpc>
            </a:pPr>
            <a:r>
              <a:rPr lang="en-US" b="true" sz="6395" spc="-191">
                <a:solidFill>
                  <a:srgbClr val="08A54C"/>
                </a:solidFill>
                <a:latin typeface="Gotham Heavy"/>
                <a:ea typeface="Gotham Heavy"/>
                <a:cs typeface="Gotham Heavy"/>
                <a:sym typeface="Gotham Heavy"/>
              </a:rPr>
              <a:t>PROJECT OVERVIEW</a:t>
            </a:r>
          </a:p>
        </p:txBody>
      </p:sp>
      <p:sp>
        <p:nvSpPr>
          <p:cNvPr name="TextBox 14" id="14"/>
          <p:cNvSpPr txBox="true"/>
          <p:nvPr/>
        </p:nvSpPr>
        <p:spPr>
          <a:xfrm rot="0">
            <a:off x="1355401" y="4680339"/>
            <a:ext cx="7788599" cy="2223173"/>
          </a:xfrm>
          <a:prstGeom prst="rect">
            <a:avLst/>
          </a:prstGeom>
        </p:spPr>
        <p:txBody>
          <a:bodyPr anchor="t" rtlCol="false" tIns="0" lIns="0" bIns="0" rIns="0">
            <a:spAutoFit/>
          </a:bodyPr>
          <a:lstStyle/>
          <a:p>
            <a:pPr algn="l" marL="0" indent="0" lvl="0">
              <a:lnSpc>
                <a:spcPts val="2937"/>
              </a:lnSpc>
              <a:spcBef>
                <a:spcPct val="0"/>
              </a:spcBef>
            </a:pPr>
            <a:r>
              <a:rPr lang="en-US" sz="2098" spc="-20">
                <a:solidFill>
                  <a:srgbClr val="000000"/>
                </a:solidFill>
                <a:latin typeface="Garet"/>
                <a:ea typeface="Garet"/>
                <a:cs typeface="Garet"/>
                <a:sym typeface="Garet"/>
              </a:rPr>
              <a:t>This analysis leverages machine learning clustering techniques to examine solar project data across regions. By identifying patterns in energy production, we can classify areas into high, medium, and low production zones, enabling data-driven business decisions and strategic resource allocation.</a:t>
            </a:r>
          </a:p>
        </p:txBody>
      </p:sp>
      <p:grpSp>
        <p:nvGrpSpPr>
          <p:cNvPr name="Group 15" id="15"/>
          <p:cNvGrpSpPr/>
          <p:nvPr/>
        </p:nvGrpSpPr>
        <p:grpSpPr>
          <a:xfrm rot="0">
            <a:off x="16655766" y="-931661"/>
            <a:ext cx="1207069" cy="3086100"/>
            <a:chOff x="0" y="0"/>
            <a:chExt cx="317911" cy="812800"/>
          </a:xfrm>
        </p:grpSpPr>
        <p:sp>
          <p:nvSpPr>
            <p:cNvPr name="Freeform 16" id="16"/>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17" id="17"/>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374141" y="7200900"/>
            <a:ext cx="3342869" cy="3086100"/>
            <a:chOff x="0" y="0"/>
            <a:chExt cx="880427" cy="812800"/>
          </a:xfrm>
        </p:grpSpPr>
        <p:sp>
          <p:nvSpPr>
            <p:cNvPr name="Freeform 3" id="3"/>
            <p:cNvSpPr/>
            <p:nvPr/>
          </p:nvSpPr>
          <p:spPr>
            <a:xfrm flipH="false" flipV="false" rot="0">
              <a:off x="0" y="0"/>
              <a:ext cx="880426" cy="812800"/>
            </a:xfrm>
            <a:custGeom>
              <a:avLst/>
              <a:gdLst/>
              <a:ahLst/>
              <a:cxnLst/>
              <a:rect r="r" b="b" t="t" l="l"/>
              <a:pathLst>
                <a:path h="812800" w="880426">
                  <a:moveTo>
                    <a:pt x="0" y="0"/>
                  </a:moveTo>
                  <a:lnTo>
                    <a:pt x="880426" y="0"/>
                  </a:lnTo>
                  <a:lnTo>
                    <a:pt x="880426" y="812800"/>
                  </a:lnTo>
                  <a:lnTo>
                    <a:pt x="0" y="812800"/>
                  </a:lnTo>
                  <a:close/>
                </a:path>
              </a:pathLst>
            </a:custGeom>
            <a:solidFill>
              <a:srgbClr val="08A54C"/>
            </a:solidFill>
          </p:spPr>
        </p:sp>
        <p:sp>
          <p:nvSpPr>
            <p:cNvPr name="TextBox 4" id="4"/>
            <p:cNvSpPr txBox="true"/>
            <p:nvPr/>
          </p:nvSpPr>
          <p:spPr>
            <a:xfrm>
              <a:off x="0" y="-38100"/>
              <a:ext cx="880427" cy="850900"/>
            </a:xfrm>
            <a:prstGeom prst="rect">
              <a:avLst/>
            </a:prstGeom>
          </p:spPr>
          <p:txBody>
            <a:bodyPr anchor="ctr" rtlCol="false" tIns="50800" lIns="50800" bIns="50800" rIns="50800"/>
            <a:lstStyle/>
            <a:p>
              <a:pPr algn="ctr" marL="0" indent="0" lvl="0">
                <a:lnSpc>
                  <a:spcPts val="2940"/>
                </a:lnSpc>
              </a:pPr>
            </a:p>
          </p:txBody>
        </p:sp>
      </p:grpSp>
      <p:grpSp>
        <p:nvGrpSpPr>
          <p:cNvPr name="Group 5" id="5"/>
          <p:cNvGrpSpPr/>
          <p:nvPr/>
        </p:nvGrpSpPr>
        <p:grpSpPr>
          <a:xfrm rot="0">
            <a:off x="10659610" y="1028700"/>
            <a:ext cx="7628390" cy="8229600"/>
            <a:chOff x="0" y="0"/>
            <a:chExt cx="10171187" cy="10972800"/>
          </a:xfrm>
        </p:grpSpPr>
        <p:pic>
          <p:nvPicPr>
            <p:cNvPr name="Picture 6" id="6"/>
            <p:cNvPicPr>
              <a:picLocks noChangeAspect="true"/>
            </p:cNvPicPr>
            <p:nvPr/>
          </p:nvPicPr>
          <p:blipFill>
            <a:blip r:embed="rId2"/>
            <a:srcRect l="3652" t="0" r="3652" b="0"/>
            <a:stretch>
              <a:fillRect/>
            </a:stretch>
          </p:blipFill>
          <p:spPr>
            <a:xfrm flipH="false" flipV="false">
              <a:off x="0" y="0"/>
              <a:ext cx="10171187" cy="10972800"/>
            </a:xfrm>
            <a:prstGeom prst="rect">
              <a:avLst/>
            </a:prstGeom>
          </p:spPr>
        </p:pic>
      </p:grpSp>
      <p:grpSp>
        <p:nvGrpSpPr>
          <p:cNvPr name="Group 7" id="7"/>
          <p:cNvGrpSpPr/>
          <p:nvPr/>
        </p:nvGrpSpPr>
        <p:grpSpPr>
          <a:xfrm rot="0">
            <a:off x="16655766" y="389964"/>
            <a:ext cx="1207069" cy="3086100"/>
            <a:chOff x="0" y="0"/>
            <a:chExt cx="317911" cy="812800"/>
          </a:xfrm>
        </p:grpSpPr>
        <p:sp>
          <p:nvSpPr>
            <p:cNvPr name="Freeform 8" id="8"/>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9" id="9"/>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grpSp>
        <p:nvGrpSpPr>
          <p:cNvPr name="Group 10" id="10"/>
          <p:cNvGrpSpPr/>
          <p:nvPr/>
        </p:nvGrpSpPr>
        <p:grpSpPr>
          <a:xfrm rot="0">
            <a:off x="540532" y="8694910"/>
            <a:ext cx="1050645" cy="1222569"/>
            <a:chOff x="0" y="0"/>
            <a:chExt cx="698500" cy="812800"/>
          </a:xfrm>
        </p:grpSpPr>
        <p:sp>
          <p:nvSpPr>
            <p:cNvPr name="Freeform 11" id="11"/>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2" id="12"/>
            <p:cNvSpPr txBox="true"/>
            <p:nvPr/>
          </p:nvSpPr>
          <p:spPr>
            <a:xfrm>
              <a:off x="0" y="73025"/>
              <a:ext cx="698500" cy="600075"/>
            </a:xfrm>
            <a:prstGeom prst="rect">
              <a:avLst/>
            </a:prstGeom>
          </p:spPr>
          <p:txBody>
            <a:bodyPr anchor="ctr" rtlCol="false" tIns="50800" lIns="50800" bIns="50800" rIns="50800"/>
            <a:lstStyle/>
            <a:p>
              <a:pPr algn="ctr" marL="0" indent="0" lvl="0">
                <a:lnSpc>
                  <a:spcPts val="3917"/>
                </a:lnSpc>
              </a:pPr>
              <a:r>
                <a:rPr lang="en-US" sz="2798">
                  <a:solidFill>
                    <a:srgbClr val="FFFFFF"/>
                  </a:solidFill>
                  <a:latin typeface="Gotham"/>
                  <a:ea typeface="Gotham"/>
                  <a:cs typeface="Gotham"/>
                  <a:sym typeface="Gotham"/>
                </a:rPr>
                <a:t>03</a:t>
              </a:r>
            </a:p>
          </p:txBody>
        </p:sp>
      </p:grpSp>
      <p:sp>
        <p:nvSpPr>
          <p:cNvPr name="Freeform 13" id="13"/>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355401" y="2632657"/>
            <a:ext cx="7788599" cy="1762940"/>
          </a:xfrm>
          <a:prstGeom prst="rect">
            <a:avLst/>
          </a:prstGeom>
        </p:spPr>
        <p:txBody>
          <a:bodyPr anchor="t" rtlCol="false" tIns="0" lIns="0" bIns="0" rIns="0">
            <a:spAutoFit/>
          </a:bodyPr>
          <a:lstStyle/>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PROBLEM STATEMENT</a:t>
            </a:r>
          </a:p>
        </p:txBody>
      </p:sp>
      <p:sp>
        <p:nvSpPr>
          <p:cNvPr name="TextBox 15" id="15"/>
          <p:cNvSpPr txBox="true"/>
          <p:nvPr/>
        </p:nvSpPr>
        <p:spPr>
          <a:xfrm rot="0">
            <a:off x="1355401" y="4819703"/>
            <a:ext cx="7788599" cy="2072683"/>
          </a:xfrm>
          <a:prstGeom prst="rect">
            <a:avLst/>
          </a:prstGeom>
        </p:spPr>
        <p:txBody>
          <a:bodyPr anchor="t" rtlCol="false" tIns="0" lIns="0" bIns="0" rIns="0">
            <a:spAutoFit/>
          </a:bodyPr>
          <a:lstStyle/>
          <a:p>
            <a:pPr algn="l" marL="0" indent="0" lvl="0">
              <a:lnSpc>
                <a:spcPts val="3357"/>
              </a:lnSpc>
              <a:spcBef>
                <a:spcPct val="0"/>
              </a:spcBef>
            </a:pPr>
            <a:r>
              <a:rPr lang="en-US" sz="2398" spc="-23">
                <a:solidFill>
                  <a:srgbClr val="000000"/>
                </a:solidFill>
                <a:latin typeface="Garet"/>
                <a:ea typeface="Garet"/>
                <a:cs typeface="Garet"/>
                <a:sym typeface="Garet"/>
              </a:rPr>
              <a:t>The solar energy industry faces critical challenges: lack of clear regional solar insights, difficulty identifying high-potential areas for development, and the need for data-driven decision making to guide strategic investments.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11735" y="-1958643"/>
            <a:ext cx="10206042" cy="11876122"/>
            <a:chOff x="0" y="0"/>
            <a:chExt cx="698500" cy="812800"/>
          </a:xfrm>
        </p:grpSpPr>
        <p:sp>
          <p:nvSpPr>
            <p:cNvPr name="Freeform 3" id="3"/>
            <p:cNvSpPr/>
            <p:nvPr/>
          </p:nvSpPr>
          <p:spPr>
            <a:xfrm flipH="false" flipV="false" rot="0">
              <a:off x="0" y="5099"/>
              <a:ext cx="698500" cy="802601"/>
            </a:xfrm>
            <a:custGeom>
              <a:avLst/>
              <a:gdLst/>
              <a:ahLst/>
              <a:cxnLst/>
              <a:rect r="r" b="b" t="t" l="l"/>
              <a:pathLst>
                <a:path h="802601" w="698500">
                  <a:moveTo>
                    <a:pt x="365590" y="4408"/>
                  </a:moveTo>
                  <a:lnTo>
                    <a:pt x="682160" y="188594"/>
                  </a:lnTo>
                  <a:cubicBezTo>
                    <a:pt x="692276" y="194480"/>
                    <a:pt x="698500" y="205301"/>
                    <a:pt x="698500" y="217006"/>
                  </a:cubicBezTo>
                  <a:lnTo>
                    <a:pt x="698500" y="585596"/>
                  </a:lnTo>
                  <a:cubicBezTo>
                    <a:pt x="698500" y="597301"/>
                    <a:pt x="692276" y="608122"/>
                    <a:pt x="682160" y="614008"/>
                  </a:cubicBezTo>
                  <a:lnTo>
                    <a:pt x="365590" y="798194"/>
                  </a:lnTo>
                  <a:cubicBezTo>
                    <a:pt x="355489" y="804071"/>
                    <a:pt x="343011" y="804071"/>
                    <a:pt x="332910" y="798194"/>
                  </a:cubicBezTo>
                  <a:lnTo>
                    <a:pt x="16340" y="614008"/>
                  </a:lnTo>
                  <a:cubicBezTo>
                    <a:pt x="6224" y="608122"/>
                    <a:pt x="0" y="597301"/>
                    <a:pt x="0" y="585596"/>
                  </a:cubicBezTo>
                  <a:lnTo>
                    <a:pt x="0" y="217006"/>
                  </a:lnTo>
                  <a:cubicBezTo>
                    <a:pt x="0" y="205301"/>
                    <a:pt x="6224" y="194480"/>
                    <a:pt x="16340" y="188594"/>
                  </a:cubicBezTo>
                  <a:lnTo>
                    <a:pt x="332910" y="4408"/>
                  </a:lnTo>
                  <a:cubicBezTo>
                    <a:pt x="343011" y="-1469"/>
                    <a:pt x="355489" y="-1469"/>
                    <a:pt x="365590" y="4408"/>
                  </a:cubicBezTo>
                  <a:close/>
                </a:path>
              </a:pathLst>
            </a:custGeom>
            <a:solidFill>
              <a:srgbClr val="08A54C"/>
            </a:solidFill>
          </p:spPr>
        </p:sp>
        <p:sp>
          <p:nvSpPr>
            <p:cNvPr name="TextBox 4" id="4"/>
            <p:cNvSpPr txBox="true"/>
            <p:nvPr/>
          </p:nvSpPr>
          <p:spPr>
            <a:xfrm>
              <a:off x="0" y="63500"/>
              <a:ext cx="698500" cy="6096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9854611" y="-611389"/>
            <a:ext cx="3905835" cy="5801017"/>
            <a:chOff x="0" y="0"/>
            <a:chExt cx="5207779" cy="7734690"/>
          </a:xfrm>
        </p:grpSpPr>
        <p:pic>
          <p:nvPicPr>
            <p:cNvPr name="Picture 6" id="6"/>
            <p:cNvPicPr>
              <a:picLocks noChangeAspect="true"/>
            </p:cNvPicPr>
            <p:nvPr/>
          </p:nvPicPr>
          <p:blipFill>
            <a:blip r:embed="rId2"/>
            <a:srcRect l="33" t="0" r="33" b="0"/>
            <a:stretch>
              <a:fillRect/>
            </a:stretch>
          </p:blipFill>
          <p:spPr>
            <a:xfrm flipH="false" flipV="false">
              <a:off x="0" y="0"/>
              <a:ext cx="5207779" cy="7734690"/>
            </a:xfrm>
            <a:prstGeom prst="rect">
              <a:avLst/>
            </a:prstGeom>
          </p:spPr>
        </p:pic>
      </p:grpSp>
      <p:grpSp>
        <p:nvGrpSpPr>
          <p:cNvPr name="Group 7" id="7"/>
          <p:cNvGrpSpPr/>
          <p:nvPr/>
        </p:nvGrpSpPr>
        <p:grpSpPr>
          <a:xfrm rot="0">
            <a:off x="13977090" y="2087903"/>
            <a:ext cx="3475332" cy="6111193"/>
            <a:chOff x="0" y="0"/>
            <a:chExt cx="4633776" cy="8148258"/>
          </a:xfrm>
        </p:grpSpPr>
        <p:pic>
          <p:nvPicPr>
            <p:cNvPr name="Picture 8" id="8"/>
            <p:cNvPicPr>
              <a:picLocks noChangeAspect="true"/>
            </p:cNvPicPr>
            <p:nvPr/>
          </p:nvPicPr>
          <p:blipFill>
            <a:blip r:embed="rId3"/>
            <a:srcRect l="115" t="0" r="115" b="0"/>
            <a:stretch>
              <a:fillRect/>
            </a:stretch>
          </p:blipFill>
          <p:spPr>
            <a:xfrm flipH="false" flipV="false">
              <a:off x="0" y="0"/>
              <a:ext cx="4633776" cy="8148258"/>
            </a:xfrm>
            <a:prstGeom prst="rect">
              <a:avLst/>
            </a:prstGeom>
          </p:spPr>
        </p:pic>
      </p:grpSp>
      <p:grpSp>
        <p:nvGrpSpPr>
          <p:cNvPr name="Group 9" id="9"/>
          <p:cNvGrpSpPr/>
          <p:nvPr/>
        </p:nvGrpSpPr>
        <p:grpSpPr>
          <a:xfrm rot="0">
            <a:off x="9854611" y="5394620"/>
            <a:ext cx="3905835" cy="5446949"/>
            <a:chOff x="0" y="0"/>
            <a:chExt cx="5207779" cy="7262598"/>
          </a:xfrm>
        </p:grpSpPr>
        <p:pic>
          <p:nvPicPr>
            <p:cNvPr name="Picture 10" id="10"/>
            <p:cNvPicPr>
              <a:picLocks noChangeAspect="true"/>
            </p:cNvPicPr>
            <p:nvPr/>
          </p:nvPicPr>
          <p:blipFill>
            <a:blip r:embed="rId4"/>
            <a:srcRect l="1955" t="0" r="1955" b="0"/>
            <a:stretch>
              <a:fillRect/>
            </a:stretch>
          </p:blipFill>
          <p:spPr>
            <a:xfrm flipH="false" flipV="false">
              <a:off x="0" y="0"/>
              <a:ext cx="5207779" cy="7262598"/>
            </a:xfrm>
            <a:prstGeom prst="rect">
              <a:avLst/>
            </a:prstGeom>
          </p:spPr>
        </p:pic>
      </p:grpSp>
      <p:grpSp>
        <p:nvGrpSpPr>
          <p:cNvPr name="Group 11" id="11"/>
          <p:cNvGrpSpPr/>
          <p:nvPr/>
        </p:nvGrpSpPr>
        <p:grpSpPr>
          <a:xfrm rot="0">
            <a:off x="540532" y="8694910"/>
            <a:ext cx="1050645" cy="1222569"/>
            <a:chOff x="0" y="0"/>
            <a:chExt cx="698500" cy="812800"/>
          </a:xfrm>
        </p:grpSpPr>
        <p:sp>
          <p:nvSpPr>
            <p:cNvPr name="Freeform 12" id="12"/>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3" id="13"/>
            <p:cNvSpPr txBox="true"/>
            <p:nvPr/>
          </p:nvSpPr>
          <p:spPr>
            <a:xfrm>
              <a:off x="0" y="73025"/>
              <a:ext cx="698500" cy="600075"/>
            </a:xfrm>
            <a:prstGeom prst="rect">
              <a:avLst/>
            </a:prstGeom>
          </p:spPr>
          <p:txBody>
            <a:bodyPr anchor="ctr" rtlCol="false" tIns="50800" lIns="50800" bIns="50800" rIns="50800"/>
            <a:lstStyle/>
            <a:p>
              <a:pPr algn="ctr" marL="0" indent="0" lvl="0">
                <a:lnSpc>
                  <a:spcPts val="3919"/>
                </a:lnSpc>
              </a:pPr>
              <a:r>
                <a:rPr lang="en-US" sz="2799">
                  <a:solidFill>
                    <a:srgbClr val="FFFFFF"/>
                  </a:solidFill>
                  <a:latin typeface="Gotham"/>
                  <a:ea typeface="Gotham"/>
                  <a:cs typeface="Gotham"/>
                  <a:sym typeface="Gotham"/>
                </a:rPr>
                <a:t>04</a:t>
              </a:r>
            </a:p>
          </p:txBody>
        </p:sp>
      </p:grpSp>
      <p:sp>
        <p:nvSpPr>
          <p:cNvPr name="Freeform 14" id="14"/>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55401" y="2055231"/>
            <a:ext cx="7788599" cy="896239"/>
          </a:xfrm>
          <a:prstGeom prst="rect">
            <a:avLst/>
          </a:prstGeom>
        </p:spPr>
        <p:txBody>
          <a:bodyPr anchor="t" rtlCol="false" tIns="0" lIns="0" bIns="0" rIns="0">
            <a:spAutoFit/>
          </a:bodyPr>
          <a:lstStyle/>
          <a:p>
            <a:pPr algn="l" marL="0" indent="0" lvl="0">
              <a:lnSpc>
                <a:spcPts val="6847"/>
              </a:lnSpc>
              <a:spcBef>
                <a:spcPct val="0"/>
              </a:spcBef>
            </a:pPr>
            <a:r>
              <a:rPr lang="en-US" b="true" sz="6399" spc="-191" strike="noStrike" u="none">
                <a:solidFill>
                  <a:srgbClr val="08A54C"/>
                </a:solidFill>
                <a:latin typeface="Gotham Heavy"/>
                <a:ea typeface="Gotham Heavy"/>
                <a:cs typeface="Gotham Heavy"/>
                <a:sym typeface="Gotham Heavy"/>
              </a:rPr>
              <a:t>OBJECTIVES</a:t>
            </a:r>
          </a:p>
        </p:txBody>
      </p:sp>
      <p:sp>
        <p:nvSpPr>
          <p:cNvPr name="TextBox 16" id="16"/>
          <p:cNvSpPr txBox="true"/>
          <p:nvPr/>
        </p:nvSpPr>
        <p:spPr>
          <a:xfrm rot="0">
            <a:off x="1355401" y="4061724"/>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Cluster Regions: Group geographic areas based on solar energy production levels using machine learning clustering algorithms.</a:t>
            </a:r>
          </a:p>
        </p:txBody>
      </p:sp>
      <p:sp>
        <p:nvSpPr>
          <p:cNvPr name="TextBox 17" id="17"/>
          <p:cNvSpPr txBox="true"/>
          <p:nvPr/>
        </p:nvSpPr>
        <p:spPr>
          <a:xfrm rot="0">
            <a:off x="1355401" y="5567626"/>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Identify Production Zones: Classify regions into high, medium, and low production zones to reveal patterns in solar adoption and output.</a:t>
            </a:r>
          </a:p>
        </p:txBody>
      </p:sp>
      <p:sp>
        <p:nvSpPr>
          <p:cNvPr name="TextBox 18" id="18"/>
          <p:cNvSpPr txBox="true"/>
          <p:nvPr/>
        </p:nvSpPr>
        <p:spPr>
          <a:xfrm rot="0">
            <a:off x="1355401" y="7073529"/>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Support Business Strategy: Provide actionable insights to guide resource allocation, investment decisions, and strategic planning.</a:t>
            </a:r>
          </a:p>
        </p:txBody>
      </p:sp>
      <p:grpSp>
        <p:nvGrpSpPr>
          <p:cNvPr name="Group 19" id="19"/>
          <p:cNvGrpSpPr/>
          <p:nvPr/>
        </p:nvGrpSpPr>
        <p:grpSpPr>
          <a:xfrm rot="0">
            <a:off x="11203994" y="3715966"/>
            <a:ext cx="1207069" cy="3086100"/>
            <a:chOff x="0" y="0"/>
            <a:chExt cx="317911" cy="812800"/>
          </a:xfrm>
        </p:grpSpPr>
        <p:sp>
          <p:nvSpPr>
            <p:cNvPr name="Freeform 20" id="20"/>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21" id="21"/>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45042" y="0"/>
            <a:ext cx="4042958" cy="3472627"/>
            <a:chOff x="0" y="0"/>
            <a:chExt cx="5390610" cy="4630169"/>
          </a:xfrm>
        </p:grpSpPr>
        <p:pic>
          <p:nvPicPr>
            <p:cNvPr name="Picture 3" id="3"/>
            <p:cNvPicPr>
              <a:picLocks noChangeAspect="true"/>
            </p:cNvPicPr>
            <p:nvPr/>
          </p:nvPicPr>
          <p:blipFill>
            <a:blip r:embed="rId2"/>
            <a:srcRect l="2921" t="0" r="2921" b="0"/>
            <a:stretch>
              <a:fillRect/>
            </a:stretch>
          </p:blipFill>
          <p:spPr>
            <a:xfrm flipH="false" flipV="false">
              <a:off x="0" y="0"/>
              <a:ext cx="5390610" cy="4630169"/>
            </a:xfrm>
            <a:prstGeom prst="rect">
              <a:avLst/>
            </a:prstGeom>
          </p:spPr>
        </p:pic>
      </p:grpSp>
      <p:grpSp>
        <p:nvGrpSpPr>
          <p:cNvPr name="Group 4" id="4"/>
          <p:cNvGrpSpPr/>
          <p:nvPr/>
        </p:nvGrpSpPr>
        <p:grpSpPr>
          <a:xfrm rot="0">
            <a:off x="10199273" y="0"/>
            <a:ext cx="4045770" cy="3472627"/>
            <a:chOff x="0" y="0"/>
            <a:chExt cx="1065553" cy="914601"/>
          </a:xfrm>
        </p:grpSpPr>
        <p:sp>
          <p:nvSpPr>
            <p:cNvPr name="Freeform 5" id="5"/>
            <p:cNvSpPr/>
            <p:nvPr/>
          </p:nvSpPr>
          <p:spPr>
            <a:xfrm flipH="false" flipV="false" rot="0">
              <a:off x="0" y="0"/>
              <a:ext cx="1065552" cy="914601"/>
            </a:xfrm>
            <a:custGeom>
              <a:avLst/>
              <a:gdLst/>
              <a:ahLst/>
              <a:cxnLst/>
              <a:rect r="r" b="b" t="t" l="l"/>
              <a:pathLst>
                <a:path h="914601" w="1065552">
                  <a:moveTo>
                    <a:pt x="0" y="0"/>
                  </a:moveTo>
                  <a:lnTo>
                    <a:pt x="1065552" y="0"/>
                  </a:lnTo>
                  <a:lnTo>
                    <a:pt x="1065552" y="914601"/>
                  </a:lnTo>
                  <a:lnTo>
                    <a:pt x="0" y="914601"/>
                  </a:lnTo>
                  <a:close/>
                </a:path>
              </a:pathLst>
            </a:custGeom>
            <a:solidFill>
              <a:srgbClr val="08A54C"/>
            </a:solidFill>
          </p:spPr>
        </p:sp>
        <p:sp>
          <p:nvSpPr>
            <p:cNvPr name="TextBox 6" id="6"/>
            <p:cNvSpPr txBox="true"/>
            <p:nvPr/>
          </p:nvSpPr>
          <p:spPr>
            <a:xfrm>
              <a:off x="0" y="-38100"/>
              <a:ext cx="1065553" cy="952701"/>
            </a:xfrm>
            <a:prstGeom prst="rect">
              <a:avLst/>
            </a:prstGeom>
          </p:spPr>
          <p:txBody>
            <a:bodyPr anchor="ctr" rtlCol="false" tIns="50800" lIns="50800" bIns="50800" rIns="50800"/>
            <a:lstStyle/>
            <a:p>
              <a:pPr algn="ctr" marL="0" indent="0" lvl="0">
                <a:lnSpc>
                  <a:spcPts val="2940"/>
                </a:lnSpc>
              </a:pPr>
            </a:p>
          </p:txBody>
        </p:sp>
      </p:grpSp>
      <p:grpSp>
        <p:nvGrpSpPr>
          <p:cNvPr name="Group 7" id="7"/>
          <p:cNvGrpSpPr/>
          <p:nvPr/>
        </p:nvGrpSpPr>
        <p:grpSpPr>
          <a:xfrm rot="0">
            <a:off x="10199273" y="3472627"/>
            <a:ext cx="4045770" cy="3472627"/>
            <a:chOff x="0" y="0"/>
            <a:chExt cx="5394360" cy="4630169"/>
          </a:xfrm>
        </p:grpSpPr>
        <p:pic>
          <p:nvPicPr>
            <p:cNvPr name="Picture 8" id="8"/>
            <p:cNvPicPr>
              <a:picLocks noChangeAspect="true"/>
            </p:cNvPicPr>
            <p:nvPr/>
          </p:nvPicPr>
          <p:blipFill>
            <a:blip r:embed="rId3"/>
            <a:srcRect l="2888" t="0" r="2888" b="0"/>
            <a:stretch>
              <a:fillRect/>
            </a:stretch>
          </p:blipFill>
          <p:spPr>
            <a:xfrm flipH="false" flipV="false">
              <a:off x="0" y="0"/>
              <a:ext cx="5394360" cy="4630169"/>
            </a:xfrm>
            <a:prstGeom prst="rect">
              <a:avLst/>
            </a:prstGeom>
          </p:spPr>
        </p:pic>
      </p:grpSp>
      <p:grpSp>
        <p:nvGrpSpPr>
          <p:cNvPr name="Group 9" id="9"/>
          <p:cNvGrpSpPr/>
          <p:nvPr/>
        </p:nvGrpSpPr>
        <p:grpSpPr>
          <a:xfrm rot="0">
            <a:off x="14245042" y="3472627"/>
            <a:ext cx="4115391" cy="3472627"/>
            <a:chOff x="0" y="0"/>
            <a:chExt cx="1083889" cy="914601"/>
          </a:xfrm>
        </p:grpSpPr>
        <p:sp>
          <p:nvSpPr>
            <p:cNvPr name="Freeform 10" id="10"/>
            <p:cNvSpPr/>
            <p:nvPr/>
          </p:nvSpPr>
          <p:spPr>
            <a:xfrm flipH="false" flipV="false" rot="0">
              <a:off x="0" y="0"/>
              <a:ext cx="1083889" cy="914601"/>
            </a:xfrm>
            <a:custGeom>
              <a:avLst/>
              <a:gdLst/>
              <a:ahLst/>
              <a:cxnLst/>
              <a:rect r="r" b="b" t="t" l="l"/>
              <a:pathLst>
                <a:path h="914601" w="1083889">
                  <a:moveTo>
                    <a:pt x="0" y="0"/>
                  </a:moveTo>
                  <a:lnTo>
                    <a:pt x="1083889" y="0"/>
                  </a:lnTo>
                  <a:lnTo>
                    <a:pt x="1083889" y="914601"/>
                  </a:lnTo>
                  <a:lnTo>
                    <a:pt x="0" y="914601"/>
                  </a:lnTo>
                  <a:close/>
                </a:path>
              </a:pathLst>
            </a:custGeom>
            <a:solidFill>
              <a:srgbClr val="F1C60B"/>
            </a:solidFill>
          </p:spPr>
        </p:sp>
        <p:sp>
          <p:nvSpPr>
            <p:cNvPr name="TextBox 11" id="11"/>
            <p:cNvSpPr txBox="true"/>
            <p:nvPr/>
          </p:nvSpPr>
          <p:spPr>
            <a:xfrm>
              <a:off x="0" y="-38100"/>
              <a:ext cx="1083889" cy="952701"/>
            </a:xfrm>
            <a:prstGeom prst="rect">
              <a:avLst/>
            </a:prstGeom>
          </p:spPr>
          <p:txBody>
            <a:bodyPr anchor="ctr" rtlCol="false" tIns="50800" lIns="50800" bIns="50800" rIns="50800"/>
            <a:lstStyle/>
            <a:p>
              <a:pPr algn="ctr" marL="0" indent="0" lvl="0">
                <a:lnSpc>
                  <a:spcPts val="2940"/>
                </a:lnSpc>
              </a:pPr>
            </a:p>
          </p:txBody>
        </p:sp>
      </p:grpSp>
      <p:grpSp>
        <p:nvGrpSpPr>
          <p:cNvPr name="Group 12" id="12"/>
          <p:cNvGrpSpPr/>
          <p:nvPr/>
        </p:nvGrpSpPr>
        <p:grpSpPr>
          <a:xfrm rot="0">
            <a:off x="10199273" y="6945254"/>
            <a:ext cx="4045770" cy="3472627"/>
            <a:chOff x="0" y="0"/>
            <a:chExt cx="1065553" cy="914601"/>
          </a:xfrm>
        </p:grpSpPr>
        <p:sp>
          <p:nvSpPr>
            <p:cNvPr name="Freeform 13" id="13"/>
            <p:cNvSpPr/>
            <p:nvPr/>
          </p:nvSpPr>
          <p:spPr>
            <a:xfrm flipH="false" flipV="false" rot="0">
              <a:off x="0" y="0"/>
              <a:ext cx="1065552" cy="914601"/>
            </a:xfrm>
            <a:custGeom>
              <a:avLst/>
              <a:gdLst/>
              <a:ahLst/>
              <a:cxnLst/>
              <a:rect r="r" b="b" t="t" l="l"/>
              <a:pathLst>
                <a:path h="914601" w="1065552">
                  <a:moveTo>
                    <a:pt x="0" y="0"/>
                  </a:moveTo>
                  <a:lnTo>
                    <a:pt x="1065552" y="0"/>
                  </a:lnTo>
                  <a:lnTo>
                    <a:pt x="1065552" y="914601"/>
                  </a:lnTo>
                  <a:lnTo>
                    <a:pt x="0" y="914601"/>
                  </a:lnTo>
                  <a:close/>
                </a:path>
              </a:pathLst>
            </a:custGeom>
            <a:solidFill>
              <a:srgbClr val="08A54C"/>
            </a:solidFill>
          </p:spPr>
        </p:sp>
        <p:sp>
          <p:nvSpPr>
            <p:cNvPr name="TextBox 14" id="14"/>
            <p:cNvSpPr txBox="true"/>
            <p:nvPr/>
          </p:nvSpPr>
          <p:spPr>
            <a:xfrm>
              <a:off x="0" y="-38100"/>
              <a:ext cx="1065553" cy="952701"/>
            </a:xfrm>
            <a:prstGeom prst="rect">
              <a:avLst/>
            </a:prstGeom>
          </p:spPr>
          <p:txBody>
            <a:bodyPr anchor="ctr" rtlCol="false" tIns="50800" lIns="50800" bIns="50800" rIns="50800"/>
            <a:lstStyle/>
            <a:p>
              <a:pPr algn="ctr" marL="0" indent="0" lvl="0">
                <a:lnSpc>
                  <a:spcPts val="2940"/>
                </a:lnSpc>
              </a:pPr>
            </a:p>
          </p:txBody>
        </p:sp>
      </p:grpSp>
      <p:grpSp>
        <p:nvGrpSpPr>
          <p:cNvPr name="Group 15" id="15"/>
          <p:cNvGrpSpPr/>
          <p:nvPr/>
        </p:nvGrpSpPr>
        <p:grpSpPr>
          <a:xfrm rot="0">
            <a:off x="14245042" y="6945254"/>
            <a:ext cx="4042958" cy="3472627"/>
            <a:chOff x="0" y="0"/>
            <a:chExt cx="5390610" cy="4630169"/>
          </a:xfrm>
        </p:grpSpPr>
        <p:pic>
          <p:nvPicPr>
            <p:cNvPr name="Picture 16" id="16"/>
            <p:cNvPicPr>
              <a:picLocks noChangeAspect="true"/>
            </p:cNvPicPr>
            <p:nvPr/>
          </p:nvPicPr>
          <p:blipFill>
            <a:blip r:embed="rId4"/>
            <a:srcRect l="2921" t="0" r="2921" b="0"/>
            <a:stretch>
              <a:fillRect/>
            </a:stretch>
          </p:blipFill>
          <p:spPr>
            <a:xfrm flipH="false" flipV="false">
              <a:off x="0" y="0"/>
              <a:ext cx="5390610" cy="4630169"/>
            </a:xfrm>
            <a:prstGeom prst="rect">
              <a:avLst/>
            </a:prstGeom>
          </p:spPr>
        </p:pic>
      </p:grpSp>
      <p:grpSp>
        <p:nvGrpSpPr>
          <p:cNvPr name="Group 17" id="17"/>
          <p:cNvGrpSpPr/>
          <p:nvPr/>
        </p:nvGrpSpPr>
        <p:grpSpPr>
          <a:xfrm rot="0">
            <a:off x="540532" y="8694910"/>
            <a:ext cx="1050645" cy="1222569"/>
            <a:chOff x="0" y="0"/>
            <a:chExt cx="698500" cy="812800"/>
          </a:xfrm>
        </p:grpSpPr>
        <p:sp>
          <p:nvSpPr>
            <p:cNvPr name="Freeform 18" id="18"/>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9" id="19"/>
            <p:cNvSpPr txBox="true"/>
            <p:nvPr/>
          </p:nvSpPr>
          <p:spPr>
            <a:xfrm>
              <a:off x="0" y="73025"/>
              <a:ext cx="698500" cy="600075"/>
            </a:xfrm>
            <a:prstGeom prst="rect">
              <a:avLst/>
            </a:prstGeom>
          </p:spPr>
          <p:txBody>
            <a:bodyPr anchor="ctr" rtlCol="false" tIns="50800" lIns="50800" bIns="50800" rIns="50800"/>
            <a:lstStyle/>
            <a:p>
              <a:pPr algn="ctr" marL="0" indent="0" lvl="0">
                <a:lnSpc>
                  <a:spcPts val="3919"/>
                </a:lnSpc>
              </a:pPr>
              <a:r>
                <a:rPr lang="en-US" sz="2799">
                  <a:solidFill>
                    <a:srgbClr val="FFFFFF"/>
                  </a:solidFill>
                  <a:latin typeface="Gotham"/>
                  <a:ea typeface="Gotham"/>
                  <a:cs typeface="Gotham"/>
                  <a:sym typeface="Gotham"/>
                </a:rPr>
                <a:t>05</a:t>
              </a:r>
            </a:p>
          </p:txBody>
        </p:sp>
      </p:grpSp>
      <p:sp>
        <p:nvSpPr>
          <p:cNvPr name="Freeform 20" id="20"/>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355401" y="2632657"/>
            <a:ext cx="7788599" cy="1763014"/>
          </a:xfrm>
          <a:prstGeom prst="rect">
            <a:avLst/>
          </a:prstGeom>
        </p:spPr>
        <p:txBody>
          <a:bodyPr anchor="t" rtlCol="false" tIns="0" lIns="0" bIns="0" rIns="0">
            <a:spAutoFit/>
          </a:bodyPr>
          <a:lstStyle/>
          <a:p>
            <a:pPr algn="l" marL="0" indent="0" lvl="0">
              <a:lnSpc>
                <a:spcPts val="6847"/>
              </a:lnSpc>
              <a:spcBef>
                <a:spcPct val="0"/>
              </a:spcBef>
            </a:pPr>
            <a:r>
              <a:rPr lang="en-US" b="true" sz="6399" spc="-191" strike="noStrike" u="none">
                <a:solidFill>
                  <a:srgbClr val="08A54C"/>
                </a:solidFill>
                <a:latin typeface="Gotham Heavy"/>
                <a:ea typeface="Gotham Heavy"/>
                <a:cs typeface="Gotham Heavy"/>
                <a:sym typeface="Gotham Heavy"/>
              </a:rPr>
              <a:t>DATASET DESCRIPTION</a:t>
            </a:r>
          </a:p>
        </p:txBody>
      </p:sp>
      <p:sp>
        <p:nvSpPr>
          <p:cNvPr name="TextBox 22" id="22"/>
          <p:cNvSpPr txBox="true"/>
          <p:nvPr/>
        </p:nvSpPr>
        <p:spPr>
          <a:xfrm rot="0">
            <a:off x="1355401" y="4819703"/>
            <a:ext cx="7788599" cy="2491740"/>
          </a:xfrm>
          <a:prstGeom prst="rect">
            <a:avLst/>
          </a:prstGeom>
        </p:spPr>
        <p:txBody>
          <a:bodyPr anchor="t" rtlCol="false" tIns="0" lIns="0" bIns="0" rIns="0">
            <a:spAutoFit/>
          </a:bodyPr>
          <a:lstStyle/>
          <a:p>
            <a:pPr algn="l" marL="0" indent="0" lvl="0">
              <a:lnSpc>
                <a:spcPts val="3359"/>
              </a:lnSpc>
              <a:spcBef>
                <a:spcPct val="0"/>
              </a:spcBef>
            </a:pPr>
            <a:r>
              <a:rPr lang="en-US" sz="2400" spc="-24">
                <a:solidFill>
                  <a:srgbClr val="000000"/>
                </a:solidFill>
                <a:latin typeface="Garet"/>
                <a:ea typeface="Garet"/>
                <a:cs typeface="Garet"/>
                <a:sym typeface="Garet"/>
              </a:rPr>
              <a:t>Our analysis utilizes comprehensive solar project data containing key identifiers including ZIP code, city, and county. Core metrics include energy production measured in kWh, PV system size specifications, and the total number of solar projects per region.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11735" y="-1958643"/>
            <a:ext cx="10206042" cy="11876122"/>
            <a:chOff x="0" y="0"/>
            <a:chExt cx="698500" cy="812800"/>
          </a:xfrm>
        </p:grpSpPr>
        <p:sp>
          <p:nvSpPr>
            <p:cNvPr name="Freeform 3" id="3"/>
            <p:cNvSpPr/>
            <p:nvPr/>
          </p:nvSpPr>
          <p:spPr>
            <a:xfrm flipH="false" flipV="false" rot="0">
              <a:off x="0" y="5099"/>
              <a:ext cx="698500" cy="802601"/>
            </a:xfrm>
            <a:custGeom>
              <a:avLst/>
              <a:gdLst/>
              <a:ahLst/>
              <a:cxnLst/>
              <a:rect r="r" b="b" t="t" l="l"/>
              <a:pathLst>
                <a:path h="802601" w="698500">
                  <a:moveTo>
                    <a:pt x="365590" y="4408"/>
                  </a:moveTo>
                  <a:lnTo>
                    <a:pt x="682160" y="188594"/>
                  </a:lnTo>
                  <a:cubicBezTo>
                    <a:pt x="692276" y="194480"/>
                    <a:pt x="698500" y="205301"/>
                    <a:pt x="698500" y="217006"/>
                  </a:cubicBezTo>
                  <a:lnTo>
                    <a:pt x="698500" y="585596"/>
                  </a:lnTo>
                  <a:cubicBezTo>
                    <a:pt x="698500" y="597301"/>
                    <a:pt x="692276" y="608122"/>
                    <a:pt x="682160" y="614008"/>
                  </a:cubicBezTo>
                  <a:lnTo>
                    <a:pt x="365590" y="798194"/>
                  </a:lnTo>
                  <a:cubicBezTo>
                    <a:pt x="355489" y="804071"/>
                    <a:pt x="343011" y="804071"/>
                    <a:pt x="332910" y="798194"/>
                  </a:cubicBezTo>
                  <a:lnTo>
                    <a:pt x="16340" y="614008"/>
                  </a:lnTo>
                  <a:cubicBezTo>
                    <a:pt x="6224" y="608122"/>
                    <a:pt x="0" y="597301"/>
                    <a:pt x="0" y="585596"/>
                  </a:cubicBezTo>
                  <a:lnTo>
                    <a:pt x="0" y="217006"/>
                  </a:lnTo>
                  <a:cubicBezTo>
                    <a:pt x="0" y="205301"/>
                    <a:pt x="6224" y="194480"/>
                    <a:pt x="16340" y="188594"/>
                  </a:cubicBezTo>
                  <a:lnTo>
                    <a:pt x="332910" y="4408"/>
                  </a:lnTo>
                  <a:cubicBezTo>
                    <a:pt x="343011" y="-1469"/>
                    <a:pt x="355489" y="-1469"/>
                    <a:pt x="365590" y="4408"/>
                  </a:cubicBezTo>
                  <a:close/>
                </a:path>
              </a:pathLst>
            </a:custGeom>
            <a:solidFill>
              <a:srgbClr val="08A54C"/>
            </a:solidFill>
          </p:spPr>
        </p:sp>
        <p:sp>
          <p:nvSpPr>
            <p:cNvPr name="TextBox 4" id="4"/>
            <p:cNvSpPr txBox="true"/>
            <p:nvPr/>
          </p:nvSpPr>
          <p:spPr>
            <a:xfrm>
              <a:off x="0" y="63500"/>
              <a:ext cx="698500" cy="6096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9854611" y="-611389"/>
            <a:ext cx="3905835" cy="5801017"/>
            <a:chOff x="0" y="0"/>
            <a:chExt cx="5207779" cy="7734690"/>
          </a:xfrm>
        </p:grpSpPr>
        <p:pic>
          <p:nvPicPr>
            <p:cNvPr name="Picture 6" id="6"/>
            <p:cNvPicPr>
              <a:picLocks noChangeAspect="true"/>
            </p:cNvPicPr>
            <p:nvPr/>
          </p:nvPicPr>
          <p:blipFill>
            <a:blip r:embed="rId2"/>
            <a:srcRect l="33" t="0" r="33" b="0"/>
            <a:stretch>
              <a:fillRect/>
            </a:stretch>
          </p:blipFill>
          <p:spPr>
            <a:xfrm flipH="false" flipV="false">
              <a:off x="0" y="0"/>
              <a:ext cx="5207779" cy="7734690"/>
            </a:xfrm>
            <a:prstGeom prst="rect">
              <a:avLst/>
            </a:prstGeom>
          </p:spPr>
        </p:pic>
      </p:grpSp>
      <p:grpSp>
        <p:nvGrpSpPr>
          <p:cNvPr name="Group 7" id="7"/>
          <p:cNvGrpSpPr/>
          <p:nvPr/>
        </p:nvGrpSpPr>
        <p:grpSpPr>
          <a:xfrm rot="0">
            <a:off x="13977090" y="2087903"/>
            <a:ext cx="3475332" cy="6111193"/>
            <a:chOff x="0" y="0"/>
            <a:chExt cx="4633776" cy="8148258"/>
          </a:xfrm>
        </p:grpSpPr>
        <p:pic>
          <p:nvPicPr>
            <p:cNvPr name="Picture 8" id="8"/>
            <p:cNvPicPr>
              <a:picLocks noChangeAspect="true"/>
            </p:cNvPicPr>
            <p:nvPr/>
          </p:nvPicPr>
          <p:blipFill>
            <a:blip r:embed="rId3"/>
            <a:srcRect l="115" t="0" r="115" b="0"/>
            <a:stretch>
              <a:fillRect/>
            </a:stretch>
          </p:blipFill>
          <p:spPr>
            <a:xfrm flipH="false" flipV="false">
              <a:off x="0" y="0"/>
              <a:ext cx="4633776" cy="8148258"/>
            </a:xfrm>
            <a:prstGeom prst="rect">
              <a:avLst/>
            </a:prstGeom>
          </p:spPr>
        </p:pic>
      </p:grpSp>
      <p:grpSp>
        <p:nvGrpSpPr>
          <p:cNvPr name="Group 9" id="9"/>
          <p:cNvGrpSpPr/>
          <p:nvPr/>
        </p:nvGrpSpPr>
        <p:grpSpPr>
          <a:xfrm rot="0">
            <a:off x="9854611" y="5394620"/>
            <a:ext cx="3905835" cy="5446949"/>
            <a:chOff x="0" y="0"/>
            <a:chExt cx="5207779" cy="7262598"/>
          </a:xfrm>
        </p:grpSpPr>
        <p:pic>
          <p:nvPicPr>
            <p:cNvPr name="Picture 10" id="10"/>
            <p:cNvPicPr>
              <a:picLocks noChangeAspect="true"/>
            </p:cNvPicPr>
            <p:nvPr/>
          </p:nvPicPr>
          <p:blipFill>
            <a:blip r:embed="rId4"/>
            <a:srcRect l="1955" t="0" r="1955" b="0"/>
            <a:stretch>
              <a:fillRect/>
            </a:stretch>
          </p:blipFill>
          <p:spPr>
            <a:xfrm flipH="false" flipV="false">
              <a:off x="0" y="0"/>
              <a:ext cx="5207779" cy="7262598"/>
            </a:xfrm>
            <a:prstGeom prst="rect">
              <a:avLst/>
            </a:prstGeom>
          </p:spPr>
        </p:pic>
      </p:grpSp>
      <p:grpSp>
        <p:nvGrpSpPr>
          <p:cNvPr name="Group 11" id="11"/>
          <p:cNvGrpSpPr/>
          <p:nvPr/>
        </p:nvGrpSpPr>
        <p:grpSpPr>
          <a:xfrm rot="0">
            <a:off x="540532" y="8694910"/>
            <a:ext cx="1050645" cy="1222569"/>
            <a:chOff x="0" y="0"/>
            <a:chExt cx="698500" cy="812800"/>
          </a:xfrm>
        </p:grpSpPr>
        <p:sp>
          <p:nvSpPr>
            <p:cNvPr name="Freeform 12" id="12"/>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3" id="13"/>
            <p:cNvSpPr txBox="true"/>
            <p:nvPr/>
          </p:nvSpPr>
          <p:spPr>
            <a:xfrm>
              <a:off x="0" y="73025"/>
              <a:ext cx="698500" cy="600075"/>
            </a:xfrm>
            <a:prstGeom prst="rect">
              <a:avLst/>
            </a:prstGeom>
          </p:spPr>
          <p:txBody>
            <a:bodyPr anchor="ctr" rtlCol="false" tIns="50800" lIns="50800" bIns="50800" rIns="50800"/>
            <a:lstStyle/>
            <a:p>
              <a:pPr algn="ctr" marL="0" indent="0" lvl="0">
                <a:lnSpc>
                  <a:spcPts val="3917"/>
                </a:lnSpc>
              </a:pPr>
              <a:r>
                <a:rPr lang="en-US" sz="2798">
                  <a:solidFill>
                    <a:srgbClr val="FFFFFF"/>
                  </a:solidFill>
                  <a:latin typeface="Gotham"/>
                  <a:ea typeface="Gotham"/>
                  <a:cs typeface="Gotham"/>
                  <a:sym typeface="Gotham"/>
                </a:rPr>
                <a:t>06</a:t>
              </a:r>
            </a:p>
          </p:txBody>
        </p:sp>
      </p:grpSp>
      <p:sp>
        <p:nvSpPr>
          <p:cNvPr name="Freeform 14" id="14"/>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55401" y="2055231"/>
            <a:ext cx="7788599" cy="1762940"/>
          </a:xfrm>
          <a:prstGeom prst="rect">
            <a:avLst/>
          </a:prstGeom>
        </p:spPr>
        <p:txBody>
          <a:bodyPr anchor="t" rtlCol="false" tIns="0" lIns="0" bIns="0" rIns="0">
            <a:spAutoFit/>
          </a:bodyPr>
          <a:lstStyle/>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DATA</a:t>
            </a:r>
          </a:p>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PREPROCESSING</a:t>
            </a:r>
          </a:p>
        </p:txBody>
      </p:sp>
      <p:sp>
        <p:nvSpPr>
          <p:cNvPr name="TextBox 16" id="16"/>
          <p:cNvSpPr txBox="true"/>
          <p:nvPr/>
        </p:nvSpPr>
        <p:spPr>
          <a:xfrm rot="0">
            <a:off x="1355401" y="4061724"/>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Data Cleaning: Systematic removal of errors, duplicates, and outliers to ensure data quality and reliability for accurate clustering analysis.</a:t>
            </a:r>
          </a:p>
        </p:txBody>
      </p:sp>
      <p:sp>
        <p:nvSpPr>
          <p:cNvPr name="TextBox 17" id="17"/>
          <p:cNvSpPr txBox="true"/>
          <p:nvPr/>
        </p:nvSpPr>
        <p:spPr>
          <a:xfrm rot="0">
            <a:off x="1355401" y="5567626"/>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Missing Values: Appropriate handling of incomplete records through imputation or removal to maintain dataset integrity.</a:t>
            </a:r>
          </a:p>
        </p:txBody>
      </p:sp>
      <p:sp>
        <p:nvSpPr>
          <p:cNvPr name="TextBox 18" id="18"/>
          <p:cNvSpPr txBox="true"/>
          <p:nvPr/>
        </p:nvSpPr>
        <p:spPr>
          <a:xfrm rot="0">
            <a:off x="1355401" y="7073529"/>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Standardization: Normalization of variables to uniform scale ensuring all features contribute equally to clustering algorithms.</a:t>
            </a:r>
          </a:p>
        </p:txBody>
      </p:sp>
      <p:grpSp>
        <p:nvGrpSpPr>
          <p:cNvPr name="Group 19" id="19"/>
          <p:cNvGrpSpPr/>
          <p:nvPr/>
        </p:nvGrpSpPr>
        <p:grpSpPr>
          <a:xfrm rot="0">
            <a:off x="11203994" y="3715966"/>
            <a:ext cx="1207069" cy="3086100"/>
            <a:chOff x="0" y="0"/>
            <a:chExt cx="317911" cy="812800"/>
          </a:xfrm>
        </p:grpSpPr>
        <p:sp>
          <p:nvSpPr>
            <p:cNvPr name="Freeform 20" id="20"/>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21" id="21"/>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11735" y="-1958643"/>
            <a:ext cx="10206042" cy="11876122"/>
            <a:chOff x="0" y="0"/>
            <a:chExt cx="698500" cy="812800"/>
          </a:xfrm>
        </p:grpSpPr>
        <p:sp>
          <p:nvSpPr>
            <p:cNvPr name="Freeform 3" id="3"/>
            <p:cNvSpPr/>
            <p:nvPr/>
          </p:nvSpPr>
          <p:spPr>
            <a:xfrm flipH="false" flipV="false" rot="0">
              <a:off x="0" y="5099"/>
              <a:ext cx="698500" cy="802601"/>
            </a:xfrm>
            <a:custGeom>
              <a:avLst/>
              <a:gdLst/>
              <a:ahLst/>
              <a:cxnLst/>
              <a:rect r="r" b="b" t="t" l="l"/>
              <a:pathLst>
                <a:path h="802601" w="698500">
                  <a:moveTo>
                    <a:pt x="365590" y="4408"/>
                  </a:moveTo>
                  <a:lnTo>
                    <a:pt x="682160" y="188594"/>
                  </a:lnTo>
                  <a:cubicBezTo>
                    <a:pt x="692276" y="194480"/>
                    <a:pt x="698500" y="205301"/>
                    <a:pt x="698500" y="217006"/>
                  </a:cubicBezTo>
                  <a:lnTo>
                    <a:pt x="698500" y="585596"/>
                  </a:lnTo>
                  <a:cubicBezTo>
                    <a:pt x="698500" y="597301"/>
                    <a:pt x="692276" y="608122"/>
                    <a:pt x="682160" y="614008"/>
                  </a:cubicBezTo>
                  <a:lnTo>
                    <a:pt x="365590" y="798194"/>
                  </a:lnTo>
                  <a:cubicBezTo>
                    <a:pt x="355489" y="804071"/>
                    <a:pt x="343011" y="804071"/>
                    <a:pt x="332910" y="798194"/>
                  </a:cubicBezTo>
                  <a:lnTo>
                    <a:pt x="16340" y="614008"/>
                  </a:lnTo>
                  <a:cubicBezTo>
                    <a:pt x="6224" y="608122"/>
                    <a:pt x="0" y="597301"/>
                    <a:pt x="0" y="585596"/>
                  </a:cubicBezTo>
                  <a:lnTo>
                    <a:pt x="0" y="217006"/>
                  </a:lnTo>
                  <a:cubicBezTo>
                    <a:pt x="0" y="205301"/>
                    <a:pt x="6224" y="194480"/>
                    <a:pt x="16340" y="188594"/>
                  </a:cubicBezTo>
                  <a:lnTo>
                    <a:pt x="332910" y="4408"/>
                  </a:lnTo>
                  <a:cubicBezTo>
                    <a:pt x="343011" y="-1469"/>
                    <a:pt x="355489" y="-1469"/>
                    <a:pt x="365590" y="4408"/>
                  </a:cubicBezTo>
                  <a:close/>
                </a:path>
              </a:pathLst>
            </a:custGeom>
            <a:solidFill>
              <a:srgbClr val="08A54C"/>
            </a:solidFill>
          </p:spPr>
        </p:sp>
        <p:sp>
          <p:nvSpPr>
            <p:cNvPr name="TextBox 4" id="4"/>
            <p:cNvSpPr txBox="true"/>
            <p:nvPr/>
          </p:nvSpPr>
          <p:spPr>
            <a:xfrm>
              <a:off x="0" y="63500"/>
              <a:ext cx="698500" cy="6096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9854611" y="-611389"/>
            <a:ext cx="3905835" cy="5801017"/>
            <a:chOff x="0" y="0"/>
            <a:chExt cx="5207779" cy="7734690"/>
          </a:xfrm>
        </p:grpSpPr>
        <p:pic>
          <p:nvPicPr>
            <p:cNvPr name="Picture 6" id="6"/>
            <p:cNvPicPr>
              <a:picLocks noChangeAspect="true"/>
            </p:cNvPicPr>
            <p:nvPr/>
          </p:nvPicPr>
          <p:blipFill>
            <a:blip r:embed="rId2"/>
            <a:srcRect l="33" t="0" r="33" b="0"/>
            <a:stretch>
              <a:fillRect/>
            </a:stretch>
          </p:blipFill>
          <p:spPr>
            <a:xfrm flipH="false" flipV="false">
              <a:off x="0" y="0"/>
              <a:ext cx="5207779" cy="7734690"/>
            </a:xfrm>
            <a:prstGeom prst="rect">
              <a:avLst/>
            </a:prstGeom>
          </p:spPr>
        </p:pic>
      </p:grpSp>
      <p:grpSp>
        <p:nvGrpSpPr>
          <p:cNvPr name="Group 7" id="7"/>
          <p:cNvGrpSpPr/>
          <p:nvPr/>
        </p:nvGrpSpPr>
        <p:grpSpPr>
          <a:xfrm rot="0">
            <a:off x="13977090" y="2087903"/>
            <a:ext cx="3475332" cy="6111193"/>
            <a:chOff x="0" y="0"/>
            <a:chExt cx="4633776" cy="8148258"/>
          </a:xfrm>
        </p:grpSpPr>
        <p:pic>
          <p:nvPicPr>
            <p:cNvPr name="Picture 8" id="8"/>
            <p:cNvPicPr>
              <a:picLocks noChangeAspect="true"/>
            </p:cNvPicPr>
            <p:nvPr/>
          </p:nvPicPr>
          <p:blipFill>
            <a:blip r:embed="rId3"/>
            <a:srcRect l="115" t="0" r="115" b="0"/>
            <a:stretch>
              <a:fillRect/>
            </a:stretch>
          </p:blipFill>
          <p:spPr>
            <a:xfrm flipH="false" flipV="false">
              <a:off x="0" y="0"/>
              <a:ext cx="4633776" cy="8148258"/>
            </a:xfrm>
            <a:prstGeom prst="rect">
              <a:avLst/>
            </a:prstGeom>
          </p:spPr>
        </p:pic>
      </p:grpSp>
      <p:grpSp>
        <p:nvGrpSpPr>
          <p:cNvPr name="Group 9" id="9"/>
          <p:cNvGrpSpPr/>
          <p:nvPr/>
        </p:nvGrpSpPr>
        <p:grpSpPr>
          <a:xfrm rot="0">
            <a:off x="9854611" y="5394620"/>
            <a:ext cx="3905835" cy="5446949"/>
            <a:chOff x="0" y="0"/>
            <a:chExt cx="5207779" cy="7262598"/>
          </a:xfrm>
        </p:grpSpPr>
        <p:pic>
          <p:nvPicPr>
            <p:cNvPr name="Picture 10" id="10"/>
            <p:cNvPicPr>
              <a:picLocks noChangeAspect="true"/>
            </p:cNvPicPr>
            <p:nvPr/>
          </p:nvPicPr>
          <p:blipFill>
            <a:blip r:embed="rId4"/>
            <a:srcRect l="1955" t="0" r="1955" b="0"/>
            <a:stretch>
              <a:fillRect/>
            </a:stretch>
          </p:blipFill>
          <p:spPr>
            <a:xfrm flipH="false" flipV="false">
              <a:off x="0" y="0"/>
              <a:ext cx="5207779" cy="7262598"/>
            </a:xfrm>
            <a:prstGeom prst="rect">
              <a:avLst/>
            </a:prstGeom>
          </p:spPr>
        </p:pic>
      </p:grpSp>
      <p:grpSp>
        <p:nvGrpSpPr>
          <p:cNvPr name="Group 11" id="11"/>
          <p:cNvGrpSpPr/>
          <p:nvPr/>
        </p:nvGrpSpPr>
        <p:grpSpPr>
          <a:xfrm rot="0">
            <a:off x="540532" y="8694910"/>
            <a:ext cx="1050645" cy="1222569"/>
            <a:chOff x="0" y="0"/>
            <a:chExt cx="698500" cy="812800"/>
          </a:xfrm>
        </p:grpSpPr>
        <p:sp>
          <p:nvSpPr>
            <p:cNvPr name="Freeform 12" id="12"/>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3" id="13"/>
            <p:cNvSpPr txBox="true"/>
            <p:nvPr/>
          </p:nvSpPr>
          <p:spPr>
            <a:xfrm>
              <a:off x="0" y="73025"/>
              <a:ext cx="698500" cy="600075"/>
            </a:xfrm>
            <a:prstGeom prst="rect">
              <a:avLst/>
            </a:prstGeom>
          </p:spPr>
          <p:txBody>
            <a:bodyPr anchor="ctr" rtlCol="false" tIns="50800" lIns="50800" bIns="50800" rIns="50800"/>
            <a:lstStyle/>
            <a:p>
              <a:pPr algn="ctr" marL="0" indent="0" lvl="0">
                <a:lnSpc>
                  <a:spcPts val="3917"/>
                </a:lnSpc>
              </a:pPr>
              <a:r>
                <a:rPr lang="en-US" sz="2798">
                  <a:solidFill>
                    <a:srgbClr val="FFFFFF"/>
                  </a:solidFill>
                  <a:latin typeface="Gotham"/>
                  <a:ea typeface="Gotham"/>
                  <a:cs typeface="Gotham"/>
                  <a:sym typeface="Gotham"/>
                </a:rPr>
                <a:t>07</a:t>
              </a:r>
            </a:p>
          </p:txBody>
        </p:sp>
      </p:grpSp>
      <p:sp>
        <p:nvSpPr>
          <p:cNvPr name="Freeform 14" id="14"/>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55401" y="2055231"/>
            <a:ext cx="7788599" cy="1762940"/>
          </a:xfrm>
          <a:prstGeom prst="rect">
            <a:avLst/>
          </a:prstGeom>
        </p:spPr>
        <p:txBody>
          <a:bodyPr anchor="t" rtlCol="false" tIns="0" lIns="0" bIns="0" rIns="0">
            <a:spAutoFit/>
          </a:bodyPr>
          <a:lstStyle/>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FEATURE</a:t>
            </a:r>
          </a:p>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ENGINEERING</a:t>
            </a:r>
          </a:p>
        </p:txBody>
      </p:sp>
      <p:sp>
        <p:nvSpPr>
          <p:cNvPr name="TextBox 16" id="16"/>
          <p:cNvSpPr txBox="true"/>
          <p:nvPr/>
        </p:nvSpPr>
        <p:spPr>
          <a:xfrm rot="0">
            <a:off x="1355401" y="4061724"/>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Total Energy Production: Aggregated kWh output calculated for each geographic region to identify overall production capacity.</a:t>
            </a:r>
          </a:p>
        </p:txBody>
      </p:sp>
      <p:sp>
        <p:nvSpPr>
          <p:cNvPr name="TextBox 17" id="17"/>
          <p:cNvSpPr txBox="true"/>
          <p:nvPr/>
        </p:nvSpPr>
        <p:spPr>
          <a:xfrm rot="0">
            <a:off x="1355401" y="5567626"/>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Average Energy Per Project: Mean energy output computed per solar installation to normalize for project count variations.</a:t>
            </a:r>
          </a:p>
        </p:txBody>
      </p:sp>
      <p:sp>
        <p:nvSpPr>
          <p:cNvPr name="TextBox 18" id="18"/>
          <p:cNvSpPr txBox="true"/>
          <p:nvPr/>
        </p:nvSpPr>
        <p:spPr>
          <a:xfrm rot="0">
            <a:off x="1355401" y="7073529"/>
            <a:ext cx="7788599" cy="1234483"/>
          </a:xfrm>
          <a:prstGeom prst="rect">
            <a:avLst/>
          </a:prstGeom>
        </p:spPr>
        <p:txBody>
          <a:bodyPr anchor="t" rtlCol="false" tIns="0" lIns="0" bIns="0" rIns="0">
            <a:spAutoFit/>
          </a:bodyPr>
          <a:lstStyle/>
          <a:p>
            <a:pPr algn="l" marL="0" indent="0" lvl="0">
              <a:lnSpc>
                <a:spcPts val="3357"/>
              </a:lnSpc>
              <a:spcBef>
                <a:spcPct val="0"/>
              </a:spcBef>
            </a:pPr>
            <a:r>
              <a:rPr lang="en-US" b="true" sz="2398" spc="-23">
                <a:solidFill>
                  <a:srgbClr val="000000"/>
                </a:solidFill>
                <a:latin typeface="Garet Bold"/>
                <a:ea typeface="Garet Bold"/>
                <a:cs typeface="Garet Bold"/>
                <a:sym typeface="Garet Bold"/>
              </a:rPr>
              <a:t>Energy Density Metrics: Production intensity ratios derived to measure efficiency relative to system size and regional factors.</a:t>
            </a:r>
          </a:p>
        </p:txBody>
      </p:sp>
      <p:grpSp>
        <p:nvGrpSpPr>
          <p:cNvPr name="Group 19" id="19"/>
          <p:cNvGrpSpPr/>
          <p:nvPr/>
        </p:nvGrpSpPr>
        <p:grpSpPr>
          <a:xfrm rot="0">
            <a:off x="11203994" y="3715966"/>
            <a:ext cx="1207069" cy="3086100"/>
            <a:chOff x="0" y="0"/>
            <a:chExt cx="317911" cy="812800"/>
          </a:xfrm>
        </p:grpSpPr>
        <p:sp>
          <p:nvSpPr>
            <p:cNvPr name="Freeform 20" id="20"/>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21" id="21"/>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04791" y="0"/>
            <a:ext cx="7483209" cy="10287000"/>
            <a:chOff x="0" y="0"/>
            <a:chExt cx="1970886" cy="2709333"/>
          </a:xfrm>
        </p:grpSpPr>
        <p:sp>
          <p:nvSpPr>
            <p:cNvPr name="Freeform 3" id="3"/>
            <p:cNvSpPr/>
            <p:nvPr/>
          </p:nvSpPr>
          <p:spPr>
            <a:xfrm flipH="false" flipV="false" rot="0">
              <a:off x="0" y="0"/>
              <a:ext cx="1970886" cy="2709333"/>
            </a:xfrm>
            <a:custGeom>
              <a:avLst/>
              <a:gdLst/>
              <a:ahLst/>
              <a:cxnLst/>
              <a:rect r="r" b="b" t="t" l="l"/>
              <a:pathLst>
                <a:path h="2709333" w="1970886">
                  <a:moveTo>
                    <a:pt x="0" y="0"/>
                  </a:moveTo>
                  <a:lnTo>
                    <a:pt x="1970886" y="0"/>
                  </a:lnTo>
                  <a:lnTo>
                    <a:pt x="1970886" y="2709333"/>
                  </a:lnTo>
                  <a:lnTo>
                    <a:pt x="0" y="2709333"/>
                  </a:lnTo>
                  <a:close/>
                </a:path>
              </a:pathLst>
            </a:custGeom>
            <a:solidFill>
              <a:srgbClr val="08A54C"/>
            </a:solidFill>
          </p:spPr>
        </p:sp>
        <p:sp>
          <p:nvSpPr>
            <p:cNvPr name="TextBox 4" id="4"/>
            <p:cNvSpPr txBox="true"/>
            <p:nvPr/>
          </p:nvSpPr>
          <p:spPr>
            <a:xfrm>
              <a:off x="0" y="-38100"/>
              <a:ext cx="1970886" cy="2747433"/>
            </a:xfrm>
            <a:prstGeom prst="rect">
              <a:avLst/>
            </a:prstGeom>
          </p:spPr>
          <p:txBody>
            <a:bodyPr anchor="ctr" rtlCol="false" tIns="50800" lIns="50800" bIns="50800" rIns="50800"/>
            <a:lstStyle/>
            <a:p>
              <a:pPr algn="ctr" marL="0" indent="0" lvl="0">
                <a:lnSpc>
                  <a:spcPts val="2940"/>
                </a:lnSpc>
              </a:pPr>
            </a:p>
          </p:txBody>
        </p:sp>
      </p:grpSp>
      <p:grpSp>
        <p:nvGrpSpPr>
          <p:cNvPr name="Group 5" id="5"/>
          <p:cNvGrpSpPr/>
          <p:nvPr/>
        </p:nvGrpSpPr>
        <p:grpSpPr>
          <a:xfrm rot="0">
            <a:off x="11957359" y="1021863"/>
            <a:ext cx="7257286" cy="8243273"/>
            <a:chOff x="0" y="0"/>
            <a:chExt cx="9676382" cy="10991031"/>
          </a:xfrm>
        </p:grpSpPr>
        <p:pic>
          <p:nvPicPr>
            <p:cNvPr name="Picture 6" id="6"/>
            <p:cNvPicPr>
              <a:picLocks noChangeAspect="true"/>
            </p:cNvPicPr>
            <p:nvPr/>
          </p:nvPicPr>
          <p:blipFill>
            <a:blip r:embed="rId2"/>
            <a:srcRect l="0" t="4068" r="0" b="4068"/>
            <a:stretch>
              <a:fillRect/>
            </a:stretch>
          </p:blipFill>
          <p:spPr>
            <a:xfrm flipH="false" flipV="false">
              <a:off x="0" y="0"/>
              <a:ext cx="9676382" cy="10991031"/>
            </a:xfrm>
            <a:prstGeom prst="rect">
              <a:avLst/>
            </a:prstGeom>
          </p:spPr>
        </p:pic>
      </p:grpSp>
      <p:grpSp>
        <p:nvGrpSpPr>
          <p:cNvPr name="Group 7" id="7"/>
          <p:cNvGrpSpPr/>
          <p:nvPr/>
        </p:nvGrpSpPr>
        <p:grpSpPr>
          <a:xfrm rot="0">
            <a:off x="540532" y="8694910"/>
            <a:ext cx="1050645" cy="1222569"/>
            <a:chOff x="0" y="0"/>
            <a:chExt cx="698500" cy="812800"/>
          </a:xfrm>
        </p:grpSpPr>
        <p:sp>
          <p:nvSpPr>
            <p:cNvPr name="Freeform 8" id="8"/>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9" id="9"/>
            <p:cNvSpPr txBox="true"/>
            <p:nvPr/>
          </p:nvSpPr>
          <p:spPr>
            <a:xfrm>
              <a:off x="0" y="73025"/>
              <a:ext cx="698500" cy="600075"/>
            </a:xfrm>
            <a:prstGeom prst="rect">
              <a:avLst/>
            </a:prstGeom>
          </p:spPr>
          <p:txBody>
            <a:bodyPr anchor="ctr" rtlCol="false" tIns="50800" lIns="50800" bIns="50800" rIns="50800"/>
            <a:lstStyle/>
            <a:p>
              <a:pPr algn="ctr" marL="0" indent="0" lvl="0">
                <a:lnSpc>
                  <a:spcPts val="3917"/>
                </a:lnSpc>
              </a:pPr>
              <a:r>
                <a:rPr lang="en-US" sz="2798">
                  <a:solidFill>
                    <a:srgbClr val="FFFFFF"/>
                  </a:solidFill>
                  <a:latin typeface="Gotham"/>
                  <a:ea typeface="Gotham"/>
                  <a:cs typeface="Gotham"/>
                  <a:sym typeface="Gotham"/>
                </a:rPr>
                <a:t>08</a:t>
              </a:r>
            </a:p>
          </p:txBody>
        </p:sp>
      </p:grpSp>
      <p:sp>
        <p:nvSpPr>
          <p:cNvPr name="Freeform 10" id="10"/>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355401" y="2034461"/>
            <a:ext cx="7788599" cy="1762940"/>
          </a:xfrm>
          <a:prstGeom prst="rect">
            <a:avLst/>
          </a:prstGeom>
        </p:spPr>
        <p:txBody>
          <a:bodyPr anchor="t" rtlCol="false" tIns="0" lIns="0" bIns="0" rIns="0">
            <a:spAutoFit/>
          </a:bodyPr>
          <a:lstStyle/>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DATA AGGREGATION</a:t>
            </a:r>
          </a:p>
        </p:txBody>
      </p:sp>
      <p:sp>
        <p:nvSpPr>
          <p:cNvPr name="TextBox 12" id="12"/>
          <p:cNvSpPr txBox="true"/>
          <p:nvPr/>
        </p:nvSpPr>
        <p:spPr>
          <a:xfrm rot="0">
            <a:off x="1355401" y="4840455"/>
            <a:ext cx="7788599" cy="1234483"/>
          </a:xfrm>
          <a:prstGeom prst="rect">
            <a:avLst/>
          </a:prstGeom>
        </p:spPr>
        <p:txBody>
          <a:bodyPr anchor="t" rtlCol="false" tIns="0" lIns="0" bIns="0" rIns="0">
            <a:spAutoFit/>
          </a:bodyPr>
          <a:lstStyle/>
          <a:p>
            <a:pPr algn="l" marL="0" indent="0" lvl="0">
              <a:lnSpc>
                <a:spcPts val="3357"/>
              </a:lnSpc>
              <a:spcBef>
                <a:spcPct val="0"/>
              </a:spcBef>
            </a:pPr>
            <a:r>
              <a:rPr lang="en-US" sz="2398" spc="-23">
                <a:solidFill>
                  <a:srgbClr val="000000"/>
                </a:solidFill>
                <a:latin typeface="Garet"/>
                <a:ea typeface="Garet"/>
                <a:cs typeface="Garet"/>
                <a:sym typeface="Garet"/>
              </a:rPr>
              <a:t>Data was grouped by ZIP code to calculate totals and averages for key metrics, enabling regional analysis of solar energy production patterns.</a:t>
            </a:r>
          </a:p>
        </p:txBody>
      </p:sp>
      <p:grpSp>
        <p:nvGrpSpPr>
          <p:cNvPr name="Group 13" id="13"/>
          <p:cNvGrpSpPr/>
          <p:nvPr/>
        </p:nvGrpSpPr>
        <p:grpSpPr>
          <a:xfrm rot="0">
            <a:off x="1355401" y="6448388"/>
            <a:ext cx="2120469" cy="1880351"/>
            <a:chOff x="0" y="0"/>
            <a:chExt cx="679049" cy="602155"/>
          </a:xfrm>
        </p:grpSpPr>
        <p:sp>
          <p:nvSpPr>
            <p:cNvPr name="Freeform 14" id="14"/>
            <p:cNvSpPr/>
            <p:nvPr/>
          </p:nvSpPr>
          <p:spPr>
            <a:xfrm flipH="false" flipV="false" rot="0">
              <a:off x="0" y="0"/>
              <a:ext cx="679049" cy="602155"/>
            </a:xfrm>
            <a:custGeom>
              <a:avLst/>
              <a:gdLst/>
              <a:ahLst/>
              <a:cxnLst/>
              <a:rect r="r" b="b" t="t" l="l"/>
              <a:pathLst>
                <a:path h="602155" w="679049">
                  <a:moveTo>
                    <a:pt x="0" y="0"/>
                  </a:moveTo>
                  <a:lnTo>
                    <a:pt x="679049" y="0"/>
                  </a:lnTo>
                  <a:lnTo>
                    <a:pt x="679049" y="602155"/>
                  </a:lnTo>
                  <a:lnTo>
                    <a:pt x="0" y="602155"/>
                  </a:lnTo>
                  <a:close/>
                </a:path>
              </a:pathLst>
            </a:custGeom>
            <a:solidFill>
              <a:srgbClr val="000000"/>
            </a:solidFill>
          </p:spPr>
        </p:sp>
        <p:sp>
          <p:nvSpPr>
            <p:cNvPr name="TextBox 15" id="15"/>
            <p:cNvSpPr txBox="true"/>
            <p:nvPr/>
          </p:nvSpPr>
          <p:spPr>
            <a:xfrm>
              <a:off x="0" y="-38100"/>
              <a:ext cx="679049" cy="640255"/>
            </a:xfrm>
            <a:prstGeom prst="rect">
              <a:avLst/>
            </a:prstGeom>
          </p:spPr>
          <p:txBody>
            <a:bodyPr anchor="ctr" rtlCol="false" tIns="50800" lIns="50800" bIns="50800" rIns="50800"/>
            <a:lstStyle/>
            <a:p>
              <a:pPr algn="ctr" marL="0" indent="0" lvl="0">
                <a:lnSpc>
                  <a:spcPts val="2940"/>
                </a:lnSpc>
              </a:pPr>
            </a:p>
          </p:txBody>
        </p:sp>
      </p:grpSp>
      <p:sp>
        <p:nvSpPr>
          <p:cNvPr name="TextBox 16" id="16"/>
          <p:cNvSpPr txBox="true"/>
          <p:nvPr/>
        </p:nvSpPr>
        <p:spPr>
          <a:xfrm rot="0">
            <a:off x="1592030" y="6836350"/>
            <a:ext cx="1647210" cy="237881"/>
          </a:xfrm>
          <a:prstGeom prst="rect">
            <a:avLst/>
          </a:prstGeom>
        </p:spPr>
        <p:txBody>
          <a:bodyPr anchor="t" rtlCol="false" tIns="0" lIns="0" bIns="0" rIns="0">
            <a:spAutoFit/>
          </a:bodyPr>
          <a:lstStyle/>
          <a:p>
            <a:pPr algn="ctr" marL="0" indent="0" lvl="0">
              <a:lnSpc>
                <a:spcPts val="1898"/>
              </a:lnSpc>
            </a:pPr>
            <a:r>
              <a:rPr lang="en-US" b="true" sz="1725" spc="172">
                <a:solidFill>
                  <a:srgbClr val="FFFFFF"/>
                </a:solidFill>
                <a:latin typeface="Gotham Bold"/>
                <a:ea typeface="Gotham Bold"/>
                <a:cs typeface="Gotham Bold"/>
                <a:sym typeface="Gotham Bold"/>
              </a:rPr>
              <a:t>ZIP CODES</a:t>
            </a:r>
          </a:p>
        </p:txBody>
      </p:sp>
      <p:sp>
        <p:nvSpPr>
          <p:cNvPr name="TextBox 17" id="17"/>
          <p:cNvSpPr txBox="true"/>
          <p:nvPr/>
        </p:nvSpPr>
        <p:spPr>
          <a:xfrm rot="0">
            <a:off x="1592030" y="7121872"/>
            <a:ext cx="1647210" cy="850069"/>
          </a:xfrm>
          <a:prstGeom prst="rect">
            <a:avLst/>
          </a:prstGeom>
        </p:spPr>
        <p:txBody>
          <a:bodyPr anchor="t" rtlCol="false" tIns="0" lIns="0" bIns="0" rIns="0">
            <a:spAutoFit/>
          </a:bodyPr>
          <a:lstStyle/>
          <a:p>
            <a:pPr algn="ctr" marL="0" indent="0" lvl="0">
              <a:lnSpc>
                <a:spcPts val="6509"/>
              </a:lnSpc>
              <a:spcBef>
                <a:spcPct val="0"/>
              </a:spcBef>
            </a:pPr>
            <a:r>
              <a:rPr lang="en-US" b="true" sz="5917" spc="-177">
                <a:solidFill>
                  <a:srgbClr val="08A54C"/>
                </a:solidFill>
                <a:latin typeface="Gotham Bold"/>
                <a:ea typeface="Gotham Bold"/>
                <a:cs typeface="Gotham Bold"/>
                <a:sym typeface="Gotham Bold"/>
              </a:rPr>
              <a:t>156</a:t>
            </a:r>
          </a:p>
        </p:txBody>
      </p:sp>
      <p:grpSp>
        <p:nvGrpSpPr>
          <p:cNvPr name="Group 18" id="18"/>
          <p:cNvGrpSpPr/>
          <p:nvPr/>
        </p:nvGrpSpPr>
        <p:grpSpPr>
          <a:xfrm rot="0">
            <a:off x="3789685" y="6448388"/>
            <a:ext cx="2120469" cy="1880351"/>
            <a:chOff x="0" y="0"/>
            <a:chExt cx="679049" cy="602155"/>
          </a:xfrm>
        </p:grpSpPr>
        <p:sp>
          <p:nvSpPr>
            <p:cNvPr name="Freeform 19" id="19"/>
            <p:cNvSpPr/>
            <p:nvPr/>
          </p:nvSpPr>
          <p:spPr>
            <a:xfrm flipH="false" flipV="false" rot="0">
              <a:off x="0" y="0"/>
              <a:ext cx="679049" cy="602155"/>
            </a:xfrm>
            <a:custGeom>
              <a:avLst/>
              <a:gdLst/>
              <a:ahLst/>
              <a:cxnLst/>
              <a:rect r="r" b="b" t="t" l="l"/>
              <a:pathLst>
                <a:path h="602155" w="679049">
                  <a:moveTo>
                    <a:pt x="0" y="0"/>
                  </a:moveTo>
                  <a:lnTo>
                    <a:pt x="679049" y="0"/>
                  </a:lnTo>
                  <a:lnTo>
                    <a:pt x="679049" y="602155"/>
                  </a:lnTo>
                  <a:lnTo>
                    <a:pt x="0" y="602155"/>
                  </a:lnTo>
                  <a:close/>
                </a:path>
              </a:pathLst>
            </a:custGeom>
            <a:solidFill>
              <a:srgbClr val="000000"/>
            </a:solidFill>
          </p:spPr>
        </p:sp>
        <p:sp>
          <p:nvSpPr>
            <p:cNvPr name="TextBox 20" id="20"/>
            <p:cNvSpPr txBox="true"/>
            <p:nvPr/>
          </p:nvSpPr>
          <p:spPr>
            <a:xfrm>
              <a:off x="0" y="-38100"/>
              <a:ext cx="679049" cy="640255"/>
            </a:xfrm>
            <a:prstGeom prst="rect">
              <a:avLst/>
            </a:prstGeom>
          </p:spPr>
          <p:txBody>
            <a:bodyPr anchor="ctr" rtlCol="false" tIns="50800" lIns="50800" bIns="50800" rIns="50800"/>
            <a:lstStyle/>
            <a:p>
              <a:pPr algn="ctr" marL="0" indent="0" lvl="0">
                <a:lnSpc>
                  <a:spcPts val="2940"/>
                </a:lnSpc>
              </a:pPr>
            </a:p>
          </p:txBody>
        </p:sp>
      </p:grpSp>
      <p:sp>
        <p:nvSpPr>
          <p:cNvPr name="TextBox 21" id="21"/>
          <p:cNvSpPr txBox="true"/>
          <p:nvPr/>
        </p:nvSpPr>
        <p:spPr>
          <a:xfrm rot="0">
            <a:off x="4026315" y="6836350"/>
            <a:ext cx="1647210" cy="237881"/>
          </a:xfrm>
          <a:prstGeom prst="rect">
            <a:avLst/>
          </a:prstGeom>
        </p:spPr>
        <p:txBody>
          <a:bodyPr anchor="t" rtlCol="false" tIns="0" lIns="0" bIns="0" rIns="0">
            <a:spAutoFit/>
          </a:bodyPr>
          <a:lstStyle/>
          <a:p>
            <a:pPr algn="ctr" marL="0" indent="0" lvl="0">
              <a:lnSpc>
                <a:spcPts val="1898"/>
              </a:lnSpc>
            </a:pPr>
            <a:r>
              <a:rPr lang="en-US" b="true" sz="1725" spc="172">
                <a:solidFill>
                  <a:srgbClr val="FFFFFF"/>
                </a:solidFill>
                <a:latin typeface="Gotham Bold"/>
                <a:ea typeface="Gotham Bold"/>
                <a:cs typeface="Gotham Bold"/>
                <a:sym typeface="Gotham Bold"/>
              </a:rPr>
              <a:t>AVG KWH</a:t>
            </a:r>
          </a:p>
        </p:txBody>
      </p:sp>
      <p:sp>
        <p:nvSpPr>
          <p:cNvPr name="TextBox 22" id="22"/>
          <p:cNvSpPr txBox="true"/>
          <p:nvPr/>
        </p:nvSpPr>
        <p:spPr>
          <a:xfrm rot="0">
            <a:off x="4026315" y="7121872"/>
            <a:ext cx="1647210" cy="850069"/>
          </a:xfrm>
          <a:prstGeom prst="rect">
            <a:avLst/>
          </a:prstGeom>
        </p:spPr>
        <p:txBody>
          <a:bodyPr anchor="t" rtlCol="false" tIns="0" lIns="0" bIns="0" rIns="0">
            <a:spAutoFit/>
          </a:bodyPr>
          <a:lstStyle/>
          <a:p>
            <a:pPr algn="ctr" marL="0" indent="0" lvl="0">
              <a:lnSpc>
                <a:spcPts val="6509"/>
              </a:lnSpc>
              <a:spcBef>
                <a:spcPct val="0"/>
              </a:spcBef>
            </a:pPr>
            <a:r>
              <a:rPr lang="en-US" b="true" sz="5917" spc="-177">
                <a:solidFill>
                  <a:srgbClr val="08A54C"/>
                </a:solidFill>
                <a:latin typeface="Gotham Bold"/>
                <a:ea typeface="Gotham Bold"/>
                <a:cs typeface="Gotham Bold"/>
                <a:sym typeface="Gotham Bold"/>
              </a:rPr>
              <a:t>42K</a:t>
            </a:r>
          </a:p>
        </p:txBody>
      </p:sp>
      <p:grpSp>
        <p:nvGrpSpPr>
          <p:cNvPr name="Group 23" id="23"/>
          <p:cNvGrpSpPr/>
          <p:nvPr/>
        </p:nvGrpSpPr>
        <p:grpSpPr>
          <a:xfrm rot="0">
            <a:off x="12410365" y="6945773"/>
            <a:ext cx="1207069" cy="3086100"/>
            <a:chOff x="0" y="0"/>
            <a:chExt cx="317911" cy="812800"/>
          </a:xfrm>
        </p:grpSpPr>
        <p:sp>
          <p:nvSpPr>
            <p:cNvPr name="Freeform 24" id="24"/>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25" id="25"/>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45042" y="0"/>
            <a:ext cx="4042958" cy="3472627"/>
            <a:chOff x="0" y="0"/>
            <a:chExt cx="5390610" cy="4630169"/>
          </a:xfrm>
        </p:grpSpPr>
        <p:pic>
          <p:nvPicPr>
            <p:cNvPr name="Picture 3" id="3"/>
            <p:cNvPicPr>
              <a:picLocks noChangeAspect="true"/>
            </p:cNvPicPr>
            <p:nvPr/>
          </p:nvPicPr>
          <p:blipFill>
            <a:blip r:embed="rId2"/>
            <a:srcRect l="2921" t="0" r="2921" b="0"/>
            <a:stretch>
              <a:fillRect/>
            </a:stretch>
          </p:blipFill>
          <p:spPr>
            <a:xfrm flipH="false" flipV="false">
              <a:off x="0" y="0"/>
              <a:ext cx="5390610" cy="4630169"/>
            </a:xfrm>
            <a:prstGeom prst="rect">
              <a:avLst/>
            </a:prstGeom>
          </p:spPr>
        </p:pic>
      </p:grpSp>
      <p:grpSp>
        <p:nvGrpSpPr>
          <p:cNvPr name="Group 4" id="4"/>
          <p:cNvGrpSpPr/>
          <p:nvPr/>
        </p:nvGrpSpPr>
        <p:grpSpPr>
          <a:xfrm rot="0">
            <a:off x="10199273" y="0"/>
            <a:ext cx="4045770" cy="3472627"/>
            <a:chOff x="0" y="0"/>
            <a:chExt cx="1065553" cy="914601"/>
          </a:xfrm>
        </p:grpSpPr>
        <p:sp>
          <p:nvSpPr>
            <p:cNvPr name="Freeform 5" id="5"/>
            <p:cNvSpPr/>
            <p:nvPr/>
          </p:nvSpPr>
          <p:spPr>
            <a:xfrm flipH="false" flipV="false" rot="0">
              <a:off x="0" y="0"/>
              <a:ext cx="1065552" cy="914601"/>
            </a:xfrm>
            <a:custGeom>
              <a:avLst/>
              <a:gdLst/>
              <a:ahLst/>
              <a:cxnLst/>
              <a:rect r="r" b="b" t="t" l="l"/>
              <a:pathLst>
                <a:path h="914601" w="1065552">
                  <a:moveTo>
                    <a:pt x="0" y="0"/>
                  </a:moveTo>
                  <a:lnTo>
                    <a:pt x="1065552" y="0"/>
                  </a:lnTo>
                  <a:lnTo>
                    <a:pt x="1065552" y="914601"/>
                  </a:lnTo>
                  <a:lnTo>
                    <a:pt x="0" y="914601"/>
                  </a:lnTo>
                  <a:close/>
                </a:path>
              </a:pathLst>
            </a:custGeom>
            <a:solidFill>
              <a:srgbClr val="08A54C"/>
            </a:solidFill>
          </p:spPr>
        </p:sp>
        <p:sp>
          <p:nvSpPr>
            <p:cNvPr name="TextBox 6" id="6"/>
            <p:cNvSpPr txBox="true"/>
            <p:nvPr/>
          </p:nvSpPr>
          <p:spPr>
            <a:xfrm>
              <a:off x="0" y="-38100"/>
              <a:ext cx="1065553" cy="952701"/>
            </a:xfrm>
            <a:prstGeom prst="rect">
              <a:avLst/>
            </a:prstGeom>
          </p:spPr>
          <p:txBody>
            <a:bodyPr anchor="ctr" rtlCol="false" tIns="50800" lIns="50800" bIns="50800" rIns="50800"/>
            <a:lstStyle/>
            <a:p>
              <a:pPr algn="ctr" marL="0" indent="0" lvl="0">
                <a:lnSpc>
                  <a:spcPts val="2940"/>
                </a:lnSpc>
              </a:pPr>
            </a:p>
          </p:txBody>
        </p:sp>
      </p:grpSp>
      <p:grpSp>
        <p:nvGrpSpPr>
          <p:cNvPr name="Group 7" id="7"/>
          <p:cNvGrpSpPr/>
          <p:nvPr/>
        </p:nvGrpSpPr>
        <p:grpSpPr>
          <a:xfrm rot="0">
            <a:off x="10199273" y="3472627"/>
            <a:ext cx="4045770" cy="3472627"/>
            <a:chOff x="0" y="0"/>
            <a:chExt cx="5394360" cy="4630169"/>
          </a:xfrm>
        </p:grpSpPr>
        <p:pic>
          <p:nvPicPr>
            <p:cNvPr name="Picture 8" id="8"/>
            <p:cNvPicPr>
              <a:picLocks noChangeAspect="true"/>
            </p:cNvPicPr>
            <p:nvPr/>
          </p:nvPicPr>
          <p:blipFill>
            <a:blip r:embed="rId3"/>
            <a:srcRect l="2888" t="0" r="2888" b="0"/>
            <a:stretch>
              <a:fillRect/>
            </a:stretch>
          </p:blipFill>
          <p:spPr>
            <a:xfrm flipH="false" flipV="false">
              <a:off x="0" y="0"/>
              <a:ext cx="5394360" cy="4630169"/>
            </a:xfrm>
            <a:prstGeom prst="rect">
              <a:avLst/>
            </a:prstGeom>
          </p:spPr>
        </p:pic>
      </p:grpSp>
      <p:grpSp>
        <p:nvGrpSpPr>
          <p:cNvPr name="Group 9" id="9"/>
          <p:cNvGrpSpPr/>
          <p:nvPr/>
        </p:nvGrpSpPr>
        <p:grpSpPr>
          <a:xfrm rot="0">
            <a:off x="14245042" y="3472627"/>
            <a:ext cx="4115391" cy="3472627"/>
            <a:chOff x="0" y="0"/>
            <a:chExt cx="1083889" cy="914601"/>
          </a:xfrm>
        </p:grpSpPr>
        <p:sp>
          <p:nvSpPr>
            <p:cNvPr name="Freeform 10" id="10"/>
            <p:cNvSpPr/>
            <p:nvPr/>
          </p:nvSpPr>
          <p:spPr>
            <a:xfrm flipH="false" flipV="false" rot="0">
              <a:off x="0" y="0"/>
              <a:ext cx="1083889" cy="914601"/>
            </a:xfrm>
            <a:custGeom>
              <a:avLst/>
              <a:gdLst/>
              <a:ahLst/>
              <a:cxnLst/>
              <a:rect r="r" b="b" t="t" l="l"/>
              <a:pathLst>
                <a:path h="914601" w="1083889">
                  <a:moveTo>
                    <a:pt x="0" y="0"/>
                  </a:moveTo>
                  <a:lnTo>
                    <a:pt x="1083889" y="0"/>
                  </a:lnTo>
                  <a:lnTo>
                    <a:pt x="1083889" y="914601"/>
                  </a:lnTo>
                  <a:lnTo>
                    <a:pt x="0" y="914601"/>
                  </a:lnTo>
                  <a:close/>
                </a:path>
              </a:pathLst>
            </a:custGeom>
            <a:solidFill>
              <a:srgbClr val="F1C60B"/>
            </a:solidFill>
          </p:spPr>
        </p:sp>
        <p:sp>
          <p:nvSpPr>
            <p:cNvPr name="TextBox 11" id="11"/>
            <p:cNvSpPr txBox="true"/>
            <p:nvPr/>
          </p:nvSpPr>
          <p:spPr>
            <a:xfrm>
              <a:off x="0" y="-38100"/>
              <a:ext cx="1083889" cy="952701"/>
            </a:xfrm>
            <a:prstGeom prst="rect">
              <a:avLst/>
            </a:prstGeom>
          </p:spPr>
          <p:txBody>
            <a:bodyPr anchor="ctr" rtlCol="false" tIns="50800" lIns="50800" bIns="50800" rIns="50800"/>
            <a:lstStyle/>
            <a:p>
              <a:pPr algn="ctr" marL="0" indent="0" lvl="0">
                <a:lnSpc>
                  <a:spcPts val="2940"/>
                </a:lnSpc>
              </a:pPr>
            </a:p>
          </p:txBody>
        </p:sp>
      </p:grpSp>
      <p:grpSp>
        <p:nvGrpSpPr>
          <p:cNvPr name="Group 12" id="12"/>
          <p:cNvGrpSpPr/>
          <p:nvPr/>
        </p:nvGrpSpPr>
        <p:grpSpPr>
          <a:xfrm rot="0">
            <a:off x="10199273" y="6945254"/>
            <a:ext cx="4045770" cy="3472627"/>
            <a:chOff x="0" y="0"/>
            <a:chExt cx="1065553" cy="914601"/>
          </a:xfrm>
        </p:grpSpPr>
        <p:sp>
          <p:nvSpPr>
            <p:cNvPr name="Freeform 13" id="13"/>
            <p:cNvSpPr/>
            <p:nvPr/>
          </p:nvSpPr>
          <p:spPr>
            <a:xfrm flipH="false" flipV="false" rot="0">
              <a:off x="0" y="0"/>
              <a:ext cx="1065552" cy="914601"/>
            </a:xfrm>
            <a:custGeom>
              <a:avLst/>
              <a:gdLst/>
              <a:ahLst/>
              <a:cxnLst/>
              <a:rect r="r" b="b" t="t" l="l"/>
              <a:pathLst>
                <a:path h="914601" w="1065552">
                  <a:moveTo>
                    <a:pt x="0" y="0"/>
                  </a:moveTo>
                  <a:lnTo>
                    <a:pt x="1065552" y="0"/>
                  </a:lnTo>
                  <a:lnTo>
                    <a:pt x="1065552" y="914601"/>
                  </a:lnTo>
                  <a:lnTo>
                    <a:pt x="0" y="914601"/>
                  </a:lnTo>
                  <a:close/>
                </a:path>
              </a:pathLst>
            </a:custGeom>
            <a:solidFill>
              <a:srgbClr val="08A54C"/>
            </a:solidFill>
          </p:spPr>
        </p:sp>
        <p:sp>
          <p:nvSpPr>
            <p:cNvPr name="TextBox 14" id="14"/>
            <p:cNvSpPr txBox="true"/>
            <p:nvPr/>
          </p:nvSpPr>
          <p:spPr>
            <a:xfrm>
              <a:off x="0" y="-38100"/>
              <a:ext cx="1065553" cy="952701"/>
            </a:xfrm>
            <a:prstGeom prst="rect">
              <a:avLst/>
            </a:prstGeom>
          </p:spPr>
          <p:txBody>
            <a:bodyPr anchor="ctr" rtlCol="false" tIns="50800" lIns="50800" bIns="50800" rIns="50800"/>
            <a:lstStyle/>
            <a:p>
              <a:pPr algn="ctr" marL="0" indent="0" lvl="0">
                <a:lnSpc>
                  <a:spcPts val="2940"/>
                </a:lnSpc>
              </a:pPr>
            </a:p>
          </p:txBody>
        </p:sp>
      </p:grpSp>
      <p:grpSp>
        <p:nvGrpSpPr>
          <p:cNvPr name="Group 15" id="15"/>
          <p:cNvGrpSpPr/>
          <p:nvPr/>
        </p:nvGrpSpPr>
        <p:grpSpPr>
          <a:xfrm rot="0">
            <a:off x="14245042" y="6945254"/>
            <a:ext cx="4042958" cy="3472627"/>
            <a:chOff x="0" y="0"/>
            <a:chExt cx="5390610" cy="4630169"/>
          </a:xfrm>
        </p:grpSpPr>
        <p:pic>
          <p:nvPicPr>
            <p:cNvPr name="Picture 16" id="16"/>
            <p:cNvPicPr>
              <a:picLocks noChangeAspect="true"/>
            </p:cNvPicPr>
            <p:nvPr/>
          </p:nvPicPr>
          <p:blipFill>
            <a:blip r:embed="rId4"/>
            <a:srcRect l="2921" t="0" r="2921" b="0"/>
            <a:stretch>
              <a:fillRect/>
            </a:stretch>
          </p:blipFill>
          <p:spPr>
            <a:xfrm flipH="false" flipV="false">
              <a:off x="0" y="0"/>
              <a:ext cx="5390610" cy="4630169"/>
            </a:xfrm>
            <a:prstGeom prst="rect">
              <a:avLst/>
            </a:prstGeom>
          </p:spPr>
        </p:pic>
      </p:grpSp>
      <p:grpSp>
        <p:nvGrpSpPr>
          <p:cNvPr name="Group 17" id="17"/>
          <p:cNvGrpSpPr/>
          <p:nvPr/>
        </p:nvGrpSpPr>
        <p:grpSpPr>
          <a:xfrm rot="0">
            <a:off x="540532" y="8694910"/>
            <a:ext cx="1050645" cy="1222569"/>
            <a:chOff x="0" y="0"/>
            <a:chExt cx="698500" cy="812800"/>
          </a:xfrm>
        </p:grpSpPr>
        <p:sp>
          <p:nvSpPr>
            <p:cNvPr name="Freeform 18" id="18"/>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9" id="19"/>
            <p:cNvSpPr txBox="true"/>
            <p:nvPr/>
          </p:nvSpPr>
          <p:spPr>
            <a:xfrm>
              <a:off x="0" y="92075"/>
              <a:ext cx="698500" cy="581025"/>
            </a:xfrm>
            <a:prstGeom prst="rect">
              <a:avLst/>
            </a:prstGeom>
          </p:spPr>
          <p:txBody>
            <a:bodyPr anchor="ctr" rtlCol="false" tIns="50800" lIns="50800" bIns="50800" rIns="50800"/>
            <a:lstStyle/>
            <a:p>
              <a:pPr algn="ctr" marL="0" indent="0" lvl="0">
                <a:lnSpc>
                  <a:spcPts val="3691"/>
                </a:lnSpc>
              </a:pPr>
              <a:r>
                <a:rPr lang="en-US" sz="2636">
                  <a:solidFill>
                    <a:srgbClr val="FFFFFF"/>
                  </a:solidFill>
                  <a:latin typeface="Gotham"/>
                  <a:ea typeface="Gotham"/>
                  <a:cs typeface="Gotham"/>
                  <a:sym typeface="Gotham"/>
                </a:rPr>
                <a:t>09</a:t>
              </a:r>
            </a:p>
          </p:txBody>
        </p:sp>
      </p:grpSp>
      <p:sp>
        <p:nvSpPr>
          <p:cNvPr name="Freeform 20" id="20"/>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355401" y="2623132"/>
            <a:ext cx="7788599" cy="1652081"/>
          </a:xfrm>
          <a:prstGeom prst="rect">
            <a:avLst/>
          </a:prstGeom>
        </p:spPr>
        <p:txBody>
          <a:bodyPr anchor="t" rtlCol="false" tIns="0" lIns="0" bIns="0" rIns="0">
            <a:spAutoFit/>
          </a:bodyPr>
          <a:lstStyle/>
          <a:p>
            <a:pPr algn="l" marL="0" indent="0" lvl="0">
              <a:lnSpc>
                <a:spcPts val="6448"/>
              </a:lnSpc>
              <a:spcBef>
                <a:spcPct val="0"/>
              </a:spcBef>
            </a:pPr>
            <a:r>
              <a:rPr lang="en-US" b="true" sz="6027" spc="-180" strike="noStrike" u="none">
                <a:solidFill>
                  <a:srgbClr val="08A54C"/>
                </a:solidFill>
                <a:latin typeface="Gotham Heavy"/>
                <a:ea typeface="Gotham Heavy"/>
                <a:cs typeface="Gotham Heavy"/>
                <a:sym typeface="Gotham Heavy"/>
              </a:rPr>
              <a:t>MACHINE LEARNING APPROACH</a:t>
            </a:r>
          </a:p>
        </p:txBody>
      </p:sp>
      <p:sp>
        <p:nvSpPr>
          <p:cNvPr name="TextBox 22" id="22"/>
          <p:cNvSpPr txBox="true"/>
          <p:nvPr/>
        </p:nvSpPr>
        <p:spPr>
          <a:xfrm rot="0">
            <a:off x="1355401" y="4819703"/>
            <a:ext cx="7788599" cy="2910883"/>
          </a:xfrm>
          <a:prstGeom prst="rect">
            <a:avLst/>
          </a:prstGeom>
        </p:spPr>
        <p:txBody>
          <a:bodyPr anchor="t" rtlCol="false" tIns="0" lIns="0" bIns="0" rIns="0">
            <a:spAutoFit/>
          </a:bodyPr>
          <a:lstStyle/>
          <a:p>
            <a:pPr algn="l" marL="0" indent="0" lvl="0">
              <a:lnSpc>
                <a:spcPts val="3357"/>
              </a:lnSpc>
              <a:spcBef>
                <a:spcPct val="0"/>
              </a:spcBef>
            </a:pPr>
            <a:r>
              <a:rPr lang="en-US" sz="2398" spc="-23">
                <a:solidFill>
                  <a:srgbClr val="000000"/>
                </a:solidFill>
                <a:latin typeface="Garet"/>
                <a:ea typeface="Garet"/>
                <a:cs typeface="Garet"/>
                <a:sym typeface="Garet"/>
              </a:rPr>
              <a:t>Three clustering algorithms were applied to identify solar production zones: K-Means clustering for partitioning data into distinct groups, Agglomerative hierarchical clustering for building nested cluster structures, and Gaussian Mixture Models for probabilistic cluster assignment.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04791" y="0"/>
            <a:ext cx="7483209" cy="10287000"/>
            <a:chOff x="0" y="0"/>
            <a:chExt cx="1970886" cy="2709333"/>
          </a:xfrm>
        </p:grpSpPr>
        <p:sp>
          <p:nvSpPr>
            <p:cNvPr name="Freeform 3" id="3"/>
            <p:cNvSpPr/>
            <p:nvPr/>
          </p:nvSpPr>
          <p:spPr>
            <a:xfrm flipH="false" flipV="false" rot="0">
              <a:off x="0" y="0"/>
              <a:ext cx="1970886" cy="2709333"/>
            </a:xfrm>
            <a:custGeom>
              <a:avLst/>
              <a:gdLst/>
              <a:ahLst/>
              <a:cxnLst/>
              <a:rect r="r" b="b" t="t" l="l"/>
              <a:pathLst>
                <a:path h="2709333" w="1970886">
                  <a:moveTo>
                    <a:pt x="0" y="0"/>
                  </a:moveTo>
                  <a:lnTo>
                    <a:pt x="1970886" y="0"/>
                  </a:lnTo>
                  <a:lnTo>
                    <a:pt x="1970886" y="2709333"/>
                  </a:lnTo>
                  <a:lnTo>
                    <a:pt x="0" y="2709333"/>
                  </a:lnTo>
                  <a:close/>
                </a:path>
              </a:pathLst>
            </a:custGeom>
            <a:solidFill>
              <a:srgbClr val="08A54C"/>
            </a:solidFill>
          </p:spPr>
        </p:sp>
        <p:sp>
          <p:nvSpPr>
            <p:cNvPr name="TextBox 4" id="4"/>
            <p:cNvSpPr txBox="true"/>
            <p:nvPr/>
          </p:nvSpPr>
          <p:spPr>
            <a:xfrm>
              <a:off x="0" y="-38100"/>
              <a:ext cx="1970886" cy="2747433"/>
            </a:xfrm>
            <a:prstGeom prst="rect">
              <a:avLst/>
            </a:prstGeom>
          </p:spPr>
          <p:txBody>
            <a:bodyPr anchor="ctr" rtlCol="false" tIns="50800" lIns="50800" bIns="50800" rIns="50800"/>
            <a:lstStyle/>
            <a:p>
              <a:pPr algn="ctr" marL="0" indent="0" lvl="0">
                <a:lnSpc>
                  <a:spcPts val="2940"/>
                </a:lnSpc>
              </a:pPr>
            </a:p>
          </p:txBody>
        </p:sp>
      </p:grpSp>
      <p:grpSp>
        <p:nvGrpSpPr>
          <p:cNvPr name="Group 5" id="5"/>
          <p:cNvGrpSpPr/>
          <p:nvPr/>
        </p:nvGrpSpPr>
        <p:grpSpPr>
          <a:xfrm rot="0">
            <a:off x="11957359" y="1021863"/>
            <a:ext cx="7257286" cy="8243273"/>
            <a:chOff x="0" y="0"/>
            <a:chExt cx="9676382" cy="10991031"/>
          </a:xfrm>
        </p:grpSpPr>
        <p:pic>
          <p:nvPicPr>
            <p:cNvPr name="Picture 6" id="6"/>
            <p:cNvPicPr>
              <a:picLocks noChangeAspect="true"/>
            </p:cNvPicPr>
            <p:nvPr/>
          </p:nvPicPr>
          <p:blipFill>
            <a:blip r:embed="rId2"/>
            <a:srcRect l="0" t="4068" r="0" b="4068"/>
            <a:stretch>
              <a:fillRect/>
            </a:stretch>
          </p:blipFill>
          <p:spPr>
            <a:xfrm flipH="false" flipV="false">
              <a:off x="0" y="0"/>
              <a:ext cx="9676382" cy="10991031"/>
            </a:xfrm>
            <a:prstGeom prst="rect">
              <a:avLst/>
            </a:prstGeom>
          </p:spPr>
        </p:pic>
      </p:grpSp>
      <p:grpSp>
        <p:nvGrpSpPr>
          <p:cNvPr name="Group 7" id="7"/>
          <p:cNvGrpSpPr/>
          <p:nvPr/>
        </p:nvGrpSpPr>
        <p:grpSpPr>
          <a:xfrm rot="0">
            <a:off x="540532" y="8694910"/>
            <a:ext cx="1050645" cy="1222569"/>
            <a:chOff x="0" y="0"/>
            <a:chExt cx="698500" cy="812800"/>
          </a:xfrm>
        </p:grpSpPr>
        <p:sp>
          <p:nvSpPr>
            <p:cNvPr name="Freeform 8" id="8"/>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9" id="9"/>
            <p:cNvSpPr txBox="true"/>
            <p:nvPr/>
          </p:nvSpPr>
          <p:spPr>
            <a:xfrm>
              <a:off x="0" y="82550"/>
              <a:ext cx="698500" cy="590550"/>
            </a:xfrm>
            <a:prstGeom prst="rect">
              <a:avLst/>
            </a:prstGeom>
          </p:spPr>
          <p:txBody>
            <a:bodyPr anchor="ctr" rtlCol="false" tIns="50800" lIns="50800" bIns="50800" rIns="50800"/>
            <a:lstStyle/>
            <a:p>
              <a:pPr algn="ctr" marL="0" indent="0" lvl="0">
                <a:lnSpc>
                  <a:spcPts val="3879"/>
                </a:lnSpc>
              </a:pPr>
              <a:r>
                <a:rPr lang="en-US" sz="2770">
                  <a:solidFill>
                    <a:srgbClr val="FFFFFF"/>
                  </a:solidFill>
                  <a:latin typeface="Gotham"/>
                  <a:ea typeface="Gotham"/>
                  <a:cs typeface="Gotham"/>
                  <a:sym typeface="Gotham"/>
                </a:rPr>
                <a:t>10</a:t>
              </a:r>
            </a:p>
          </p:txBody>
        </p:sp>
      </p:grpSp>
      <p:sp>
        <p:nvSpPr>
          <p:cNvPr name="Freeform 10" id="10"/>
          <p:cNvSpPr/>
          <p:nvPr/>
        </p:nvSpPr>
        <p:spPr>
          <a:xfrm flipH="false" flipV="false" rot="0">
            <a:off x="1410826" y="-1058257"/>
            <a:ext cx="2118914" cy="2118914"/>
          </a:xfrm>
          <a:custGeom>
            <a:avLst/>
            <a:gdLst/>
            <a:ahLst/>
            <a:cxnLst/>
            <a:rect r="r" b="b" t="t" l="l"/>
            <a:pathLst>
              <a:path h="2118914" w="2118914">
                <a:moveTo>
                  <a:pt x="0" y="0"/>
                </a:moveTo>
                <a:lnTo>
                  <a:pt x="2118914" y="0"/>
                </a:lnTo>
                <a:lnTo>
                  <a:pt x="2118914" y="2118915"/>
                </a:lnTo>
                <a:lnTo>
                  <a:pt x="0" y="2118915"/>
                </a:lnTo>
                <a:lnTo>
                  <a:pt x="0" y="0"/>
                </a:lnTo>
                <a:close/>
              </a:path>
            </a:pathLst>
          </a:custGeom>
          <a:blipFill>
            <a:blip r:embed="rId3"/>
            <a:stretch>
              <a:fillRect l="0" t="0" r="0" b="0"/>
            </a:stretch>
          </a:blipFill>
        </p:spPr>
      </p:sp>
      <p:sp>
        <p:nvSpPr>
          <p:cNvPr name="TextBox 11" id="11"/>
          <p:cNvSpPr txBox="true"/>
          <p:nvPr/>
        </p:nvSpPr>
        <p:spPr>
          <a:xfrm rot="0">
            <a:off x="1355401" y="2034461"/>
            <a:ext cx="7788599" cy="1742863"/>
          </a:xfrm>
          <a:prstGeom prst="rect">
            <a:avLst/>
          </a:prstGeom>
        </p:spPr>
        <p:txBody>
          <a:bodyPr anchor="t" rtlCol="false" tIns="0" lIns="0" bIns="0" rIns="0">
            <a:spAutoFit/>
          </a:bodyPr>
          <a:lstStyle/>
          <a:p>
            <a:pPr algn="l" marL="0" indent="0" lvl="0">
              <a:lnSpc>
                <a:spcPts val="6776"/>
              </a:lnSpc>
              <a:spcBef>
                <a:spcPct val="0"/>
              </a:spcBef>
            </a:pPr>
            <a:r>
              <a:rPr lang="en-US" b="true" sz="6333" spc="-189" strike="noStrike" u="none">
                <a:solidFill>
                  <a:srgbClr val="08A54C"/>
                </a:solidFill>
                <a:latin typeface="Gotham Heavy"/>
                <a:ea typeface="Gotham Heavy"/>
                <a:cs typeface="Gotham Heavy"/>
                <a:sym typeface="Gotham Heavy"/>
              </a:rPr>
              <a:t>MODEL EVALUATION</a:t>
            </a:r>
          </a:p>
        </p:txBody>
      </p:sp>
      <p:sp>
        <p:nvSpPr>
          <p:cNvPr name="TextBox 12" id="12"/>
          <p:cNvSpPr txBox="true"/>
          <p:nvPr/>
        </p:nvSpPr>
        <p:spPr>
          <a:xfrm rot="0">
            <a:off x="1355401" y="4840455"/>
            <a:ext cx="7788599" cy="1234483"/>
          </a:xfrm>
          <a:prstGeom prst="rect">
            <a:avLst/>
          </a:prstGeom>
        </p:spPr>
        <p:txBody>
          <a:bodyPr anchor="t" rtlCol="false" tIns="0" lIns="0" bIns="0" rIns="0">
            <a:spAutoFit/>
          </a:bodyPr>
          <a:lstStyle/>
          <a:p>
            <a:pPr algn="l" marL="0" indent="0" lvl="0">
              <a:lnSpc>
                <a:spcPts val="3357"/>
              </a:lnSpc>
              <a:spcBef>
                <a:spcPct val="0"/>
              </a:spcBef>
            </a:pPr>
            <a:r>
              <a:rPr lang="en-US" sz="2398" spc="-23">
                <a:solidFill>
                  <a:srgbClr val="000000"/>
                </a:solidFill>
                <a:latin typeface="Garet"/>
                <a:ea typeface="Garet"/>
                <a:cs typeface="Garet"/>
                <a:sym typeface="Garet"/>
              </a:rPr>
              <a:t>Metrics used to assess clustering quality and validate the effectiveness of our solar zone identification approach.</a:t>
            </a:r>
          </a:p>
        </p:txBody>
      </p:sp>
      <p:grpSp>
        <p:nvGrpSpPr>
          <p:cNvPr name="Group 13" id="13"/>
          <p:cNvGrpSpPr/>
          <p:nvPr/>
        </p:nvGrpSpPr>
        <p:grpSpPr>
          <a:xfrm rot="0">
            <a:off x="1355401" y="6448388"/>
            <a:ext cx="2120469" cy="1880351"/>
            <a:chOff x="0" y="0"/>
            <a:chExt cx="679049" cy="602155"/>
          </a:xfrm>
        </p:grpSpPr>
        <p:sp>
          <p:nvSpPr>
            <p:cNvPr name="Freeform 14" id="14"/>
            <p:cNvSpPr/>
            <p:nvPr/>
          </p:nvSpPr>
          <p:spPr>
            <a:xfrm flipH="false" flipV="false" rot="0">
              <a:off x="0" y="0"/>
              <a:ext cx="679049" cy="602155"/>
            </a:xfrm>
            <a:custGeom>
              <a:avLst/>
              <a:gdLst/>
              <a:ahLst/>
              <a:cxnLst/>
              <a:rect r="r" b="b" t="t" l="l"/>
              <a:pathLst>
                <a:path h="602155" w="679049">
                  <a:moveTo>
                    <a:pt x="0" y="0"/>
                  </a:moveTo>
                  <a:lnTo>
                    <a:pt x="679049" y="0"/>
                  </a:lnTo>
                  <a:lnTo>
                    <a:pt x="679049" y="602155"/>
                  </a:lnTo>
                  <a:lnTo>
                    <a:pt x="0" y="602155"/>
                  </a:lnTo>
                  <a:close/>
                </a:path>
              </a:pathLst>
            </a:custGeom>
            <a:solidFill>
              <a:srgbClr val="000000"/>
            </a:solidFill>
          </p:spPr>
        </p:sp>
        <p:sp>
          <p:nvSpPr>
            <p:cNvPr name="TextBox 15" id="15"/>
            <p:cNvSpPr txBox="true"/>
            <p:nvPr/>
          </p:nvSpPr>
          <p:spPr>
            <a:xfrm>
              <a:off x="0" y="-38100"/>
              <a:ext cx="679049" cy="640255"/>
            </a:xfrm>
            <a:prstGeom prst="rect">
              <a:avLst/>
            </a:prstGeom>
          </p:spPr>
          <p:txBody>
            <a:bodyPr anchor="ctr" rtlCol="false" tIns="50800" lIns="50800" bIns="50800" rIns="50800"/>
            <a:lstStyle/>
            <a:p>
              <a:pPr algn="ctr" marL="0" indent="0" lvl="0">
                <a:lnSpc>
                  <a:spcPts val="2940"/>
                </a:lnSpc>
              </a:pPr>
            </a:p>
          </p:txBody>
        </p:sp>
      </p:grpSp>
      <p:sp>
        <p:nvSpPr>
          <p:cNvPr name="TextBox 16" id="16"/>
          <p:cNvSpPr txBox="true"/>
          <p:nvPr/>
        </p:nvSpPr>
        <p:spPr>
          <a:xfrm rot="0">
            <a:off x="1592030" y="6817300"/>
            <a:ext cx="1647210" cy="180113"/>
          </a:xfrm>
          <a:prstGeom prst="rect">
            <a:avLst/>
          </a:prstGeom>
        </p:spPr>
        <p:txBody>
          <a:bodyPr anchor="t" rtlCol="false" tIns="0" lIns="0" bIns="0" rIns="0">
            <a:spAutoFit/>
          </a:bodyPr>
          <a:lstStyle/>
          <a:p>
            <a:pPr algn="ctr" marL="0" indent="0" lvl="0">
              <a:lnSpc>
                <a:spcPts val="1351"/>
              </a:lnSpc>
            </a:pPr>
            <a:r>
              <a:rPr lang="en-US" b="true" sz="1228" spc="122">
                <a:solidFill>
                  <a:srgbClr val="FFFFFF"/>
                </a:solidFill>
                <a:latin typeface="Gotham Bold"/>
                <a:ea typeface="Gotham Bold"/>
                <a:cs typeface="Gotham Bold"/>
                <a:sym typeface="Gotham Bold"/>
              </a:rPr>
              <a:t>SILHOUETTE</a:t>
            </a:r>
          </a:p>
        </p:txBody>
      </p:sp>
      <p:sp>
        <p:nvSpPr>
          <p:cNvPr name="TextBox 17" id="17"/>
          <p:cNvSpPr txBox="true"/>
          <p:nvPr/>
        </p:nvSpPr>
        <p:spPr>
          <a:xfrm rot="0">
            <a:off x="1592030" y="7131397"/>
            <a:ext cx="1647210" cy="831980"/>
          </a:xfrm>
          <a:prstGeom prst="rect">
            <a:avLst/>
          </a:prstGeom>
        </p:spPr>
        <p:txBody>
          <a:bodyPr anchor="t" rtlCol="false" tIns="0" lIns="0" bIns="0" rIns="0">
            <a:spAutoFit/>
          </a:bodyPr>
          <a:lstStyle/>
          <a:p>
            <a:pPr algn="ctr" marL="0" indent="0" lvl="0">
              <a:lnSpc>
                <a:spcPts val="6445"/>
              </a:lnSpc>
              <a:spcBef>
                <a:spcPct val="0"/>
              </a:spcBef>
            </a:pPr>
            <a:r>
              <a:rPr lang="en-US" b="true" sz="5859" spc="-175">
                <a:solidFill>
                  <a:srgbClr val="08A54C"/>
                </a:solidFill>
                <a:latin typeface="Gotham Bold"/>
                <a:ea typeface="Gotham Bold"/>
                <a:cs typeface="Gotham Bold"/>
                <a:sym typeface="Gotham Bold"/>
              </a:rPr>
              <a:t>0.72</a:t>
            </a:r>
          </a:p>
        </p:txBody>
      </p:sp>
      <p:grpSp>
        <p:nvGrpSpPr>
          <p:cNvPr name="Group 18" id="18"/>
          <p:cNvGrpSpPr/>
          <p:nvPr/>
        </p:nvGrpSpPr>
        <p:grpSpPr>
          <a:xfrm rot="0">
            <a:off x="3789685" y="6448388"/>
            <a:ext cx="2120469" cy="1880351"/>
            <a:chOff x="0" y="0"/>
            <a:chExt cx="679049" cy="602155"/>
          </a:xfrm>
        </p:grpSpPr>
        <p:sp>
          <p:nvSpPr>
            <p:cNvPr name="Freeform 19" id="19"/>
            <p:cNvSpPr/>
            <p:nvPr/>
          </p:nvSpPr>
          <p:spPr>
            <a:xfrm flipH="false" flipV="false" rot="0">
              <a:off x="0" y="0"/>
              <a:ext cx="679049" cy="602155"/>
            </a:xfrm>
            <a:custGeom>
              <a:avLst/>
              <a:gdLst/>
              <a:ahLst/>
              <a:cxnLst/>
              <a:rect r="r" b="b" t="t" l="l"/>
              <a:pathLst>
                <a:path h="602155" w="679049">
                  <a:moveTo>
                    <a:pt x="0" y="0"/>
                  </a:moveTo>
                  <a:lnTo>
                    <a:pt x="679049" y="0"/>
                  </a:lnTo>
                  <a:lnTo>
                    <a:pt x="679049" y="602155"/>
                  </a:lnTo>
                  <a:lnTo>
                    <a:pt x="0" y="602155"/>
                  </a:lnTo>
                  <a:close/>
                </a:path>
              </a:pathLst>
            </a:custGeom>
            <a:solidFill>
              <a:srgbClr val="000000"/>
            </a:solidFill>
          </p:spPr>
        </p:sp>
        <p:sp>
          <p:nvSpPr>
            <p:cNvPr name="TextBox 20" id="20"/>
            <p:cNvSpPr txBox="true"/>
            <p:nvPr/>
          </p:nvSpPr>
          <p:spPr>
            <a:xfrm>
              <a:off x="0" y="-38100"/>
              <a:ext cx="679049" cy="640255"/>
            </a:xfrm>
            <a:prstGeom prst="rect">
              <a:avLst/>
            </a:prstGeom>
          </p:spPr>
          <p:txBody>
            <a:bodyPr anchor="ctr" rtlCol="false" tIns="50800" lIns="50800" bIns="50800" rIns="50800"/>
            <a:lstStyle/>
            <a:p>
              <a:pPr algn="ctr" marL="0" indent="0" lvl="0">
                <a:lnSpc>
                  <a:spcPts val="2940"/>
                </a:lnSpc>
              </a:pPr>
            </a:p>
          </p:txBody>
        </p:sp>
      </p:grpSp>
      <p:sp>
        <p:nvSpPr>
          <p:cNvPr name="TextBox 21" id="21"/>
          <p:cNvSpPr txBox="true"/>
          <p:nvPr/>
        </p:nvSpPr>
        <p:spPr>
          <a:xfrm rot="0">
            <a:off x="4026315" y="6817300"/>
            <a:ext cx="1647210" cy="180113"/>
          </a:xfrm>
          <a:prstGeom prst="rect">
            <a:avLst/>
          </a:prstGeom>
        </p:spPr>
        <p:txBody>
          <a:bodyPr anchor="t" rtlCol="false" tIns="0" lIns="0" bIns="0" rIns="0">
            <a:spAutoFit/>
          </a:bodyPr>
          <a:lstStyle/>
          <a:p>
            <a:pPr algn="ctr" marL="0" indent="0" lvl="0">
              <a:lnSpc>
                <a:spcPts val="1351"/>
              </a:lnSpc>
            </a:pPr>
            <a:r>
              <a:rPr lang="en-US" b="true" sz="1228" spc="122">
                <a:solidFill>
                  <a:srgbClr val="FFFFFF"/>
                </a:solidFill>
                <a:latin typeface="Gotham Bold"/>
                <a:ea typeface="Gotham Bold"/>
                <a:cs typeface="Gotham Bold"/>
                <a:sym typeface="Gotham Bold"/>
              </a:rPr>
              <a:t>DAVIES-BOULDIN</a:t>
            </a:r>
          </a:p>
        </p:txBody>
      </p:sp>
      <p:sp>
        <p:nvSpPr>
          <p:cNvPr name="TextBox 22" id="22"/>
          <p:cNvSpPr txBox="true"/>
          <p:nvPr/>
        </p:nvSpPr>
        <p:spPr>
          <a:xfrm rot="0">
            <a:off x="4026315" y="7131397"/>
            <a:ext cx="1647210" cy="831980"/>
          </a:xfrm>
          <a:prstGeom prst="rect">
            <a:avLst/>
          </a:prstGeom>
        </p:spPr>
        <p:txBody>
          <a:bodyPr anchor="t" rtlCol="false" tIns="0" lIns="0" bIns="0" rIns="0">
            <a:spAutoFit/>
          </a:bodyPr>
          <a:lstStyle/>
          <a:p>
            <a:pPr algn="ctr" marL="0" indent="0" lvl="0">
              <a:lnSpc>
                <a:spcPts val="6445"/>
              </a:lnSpc>
              <a:spcBef>
                <a:spcPct val="0"/>
              </a:spcBef>
            </a:pPr>
            <a:r>
              <a:rPr lang="en-US" b="true" sz="5859" spc="-175">
                <a:solidFill>
                  <a:srgbClr val="08A54C"/>
                </a:solidFill>
                <a:latin typeface="Gotham Bold"/>
                <a:ea typeface="Gotham Bold"/>
                <a:cs typeface="Gotham Bold"/>
                <a:sym typeface="Gotham Bold"/>
              </a:rPr>
              <a:t>0.45</a:t>
            </a:r>
          </a:p>
        </p:txBody>
      </p:sp>
      <p:grpSp>
        <p:nvGrpSpPr>
          <p:cNvPr name="Group 23" id="23"/>
          <p:cNvGrpSpPr/>
          <p:nvPr/>
        </p:nvGrpSpPr>
        <p:grpSpPr>
          <a:xfrm rot="0">
            <a:off x="12410365" y="6945773"/>
            <a:ext cx="1207069" cy="3086100"/>
            <a:chOff x="0" y="0"/>
            <a:chExt cx="317911" cy="812800"/>
          </a:xfrm>
        </p:grpSpPr>
        <p:sp>
          <p:nvSpPr>
            <p:cNvPr name="Freeform 24" id="24"/>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25" id="25"/>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506189" y="0"/>
            <a:ext cx="3465371" cy="10377973"/>
            <a:chOff x="0" y="0"/>
            <a:chExt cx="912690" cy="2733293"/>
          </a:xfrm>
        </p:grpSpPr>
        <p:sp>
          <p:nvSpPr>
            <p:cNvPr name="Freeform 3" id="3"/>
            <p:cNvSpPr/>
            <p:nvPr/>
          </p:nvSpPr>
          <p:spPr>
            <a:xfrm flipH="false" flipV="false" rot="0">
              <a:off x="0" y="0"/>
              <a:ext cx="912690" cy="2733293"/>
            </a:xfrm>
            <a:custGeom>
              <a:avLst/>
              <a:gdLst/>
              <a:ahLst/>
              <a:cxnLst/>
              <a:rect r="r" b="b" t="t" l="l"/>
              <a:pathLst>
                <a:path h="2733293" w="912690">
                  <a:moveTo>
                    <a:pt x="0" y="0"/>
                  </a:moveTo>
                  <a:lnTo>
                    <a:pt x="912690" y="0"/>
                  </a:lnTo>
                  <a:lnTo>
                    <a:pt x="912690" y="2733293"/>
                  </a:lnTo>
                  <a:lnTo>
                    <a:pt x="0" y="2733293"/>
                  </a:lnTo>
                  <a:close/>
                </a:path>
              </a:pathLst>
            </a:custGeom>
            <a:solidFill>
              <a:srgbClr val="F1C60B"/>
            </a:solidFill>
          </p:spPr>
        </p:sp>
        <p:sp>
          <p:nvSpPr>
            <p:cNvPr name="TextBox 4" id="4"/>
            <p:cNvSpPr txBox="true"/>
            <p:nvPr/>
          </p:nvSpPr>
          <p:spPr>
            <a:xfrm>
              <a:off x="0" y="-38100"/>
              <a:ext cx="912690" cy="2771393"/>
            </a:xfrm>
            <a:prstGeom prst="rect">
              <a:avLst/>
            </a:prstGeom>
          </p:spPr>
          <p:txBody>
            <a:bodyPr anchor="ctr" rtlCol="false" tIns="50800" lIns="50800" bIns="50800" rIns="50800"/>
            <a:lstStyle/>
            <a:p>
              <a:pPr algn="ctr" marL="0" indent="0" lvl="0">
                <a:lnSpc>
                  <a:spcPts val="2940"/>
                </a:lnSpc>
              </a:pPr>
            </a:p>
          </p:txBody>
        </p:sp>
      </p:grpSp>
      <p:grpSp>
        <p:nvGrpSpPr>
          <p:cNvPr name="Group 5" id="5"/>
          <p:cNvGrpSpPr/>
          <p:nvPr/>
        </p:nvGrpSpPr>
        <p:grpSpPr>
          <a:xfrm rot="0">
            <a:off x="12238874" y="4132412"/>
            <a:ext cx="6049126" cy="6154588"/>
            <a:chOff x="0" y="0"/>
            <a:chExt cx="8065501" cy="8206118"/>
          </a:xfrm>
        </p:grpSpPr>
        <p:pic>
          <p:nvPicPr>
            <p:cNvPr name="Picture 6" id="6"/>
            <p:cNvPicPr>
              <a:picLocks noChangeAspect="true"/>
            </p:cNvPicPr>
            <p:nvPr/>
          </p:nvPicPr>
          <p:blipFill>
            <a:blip r:embed="rId2"/>
            <a:srcRect l="17258" t="0" r="17258" b="0"/>
            <a:stretch>
              <a:fillRect/>
            </a:stretch>
          </p:blipFill>
          <p:spPr>
            <a:xfrm flipH="false" flipV="false">
              <a:off x="0" y="0"/>
              <a:ext cx="8065501" cy="8206118"/>
            </a:xfrm>
            <a:prstGeom prst="rect">
              <a:avLst/>
            </a:prstGeom>
          </p:spPr>
        </p:pic>
      </p:grpSp>
      <p:grpSp>
        <p:nvGrpSpPr>
          <p:cNvPr name="Group 7" id="7"/>
          <p:cNvGrpSpPr/>
          <p:nvPr/>
        </p:nvGrpSpPr>
        <p:grpSpPr>
          <a:xfrm rot="0">
            <a:off x="12238874" y="0"/>
            <a:ext cx="6225635" cy="4132412"/>
            <a:chOff x="0" y="0"/>
            <a:chExt cx="1639673" cy="1088372"/>
          </a:xfrm>
        </p:grpSpPr>
        <p:sp>
          <p:nvSpPr>
            <p:cNvPr name="Freeform 8" id="8"/>
            <p:cNvSpPr/>
            <p:nvPr/>
          </p:nvSpPr>
          <p:spPr>
            <a:xfrm flipH="false" flipV="false" rot="0">
              <a:off x="0" y="0"/>
              <a:ext cx="1639673" cy="1088372"/>
            </a:xfrm>
            <a:custGeom>
              <a:avLst/>
              <a:gdLst/>
              <a:ahLst/>
              <a:cxnLst/>
              <a:rect r="r" b="b" t="t" l="l"/>
              <a:pathLst>
                <a:path h="1088372" w="1639673">
                  <a:moveTo>
                    <a:pt x="0" y="0"/>
                  </a:moveTo>
                  <a:lnTo>
                    <a:pt x="1639673" y="0"/>
                  </a:lnTo>
                  <a:lnTo>
                    <a:pt x="1639673" y="1088372"/>
                  </a:lnTo>
                  <a:lnTo>
                    <a:pt x="0" y="1088372"/>
                  </a:lnTo>
                  <a:close/>
                </a:path>
              </a:pathLst>
            </a:custGeom>
            <a:solidFill>
              <a:srgbClr val="08A54C"/>
            </a:solidFill>
          </p:spPr>
        </p:sp>
        <p:sp>
          <p:nvSpPr>
            <p:cNvPr name="TextBox 9" id="9"/>
            <p:cNvSpPr txBox="true"/>
            <p:nvPr/>
          </p:nvSpPr>
          <p:spPr>
            <a:xfrm>
              <a:off x="0" y="-38100"/>
              <a:ext cx="1639673" cy="1126472"/>
            </a:xfrm>
            <a:prstGeom prst="rect">
              <a:avLst/>
            </a:prstGeom>
          </p:spPr>
          <p:txBody>
            <a:bodyPr anchor="ctr" rtlCol="false" tIns="50800" lIns="50800" bIns="50800" rIns="50800"/>
            <a:lstStyle/>
            <a:p>
              <a:pPr algn="ctr" marL="0" indent="0" lvl="0">
                <a:lnSpc>
                  <a:spcPts val="2940"/>
                </a:lnSpc>
              </a:pPr>
            </a:p>
          </p:txBody>
        </p:sp>
      </p:grpSp>
      <p:grpSp>
        <p:nvGrpSpPr>
          <p:cNvPr name="Group 10" id="10"/>
          <p:cNvGrpSpPr/>
          <p:nvPr/>
        </p:nvGrpSpPr>
        <p:grpSpPr>
          <a:xfrm rot="0">
            <a:off x="540532" y="8694910"/>
            <a:ext cx="1050645" cy="1222569"/>
            <a:chOff x="0" y="0"/>
            <a:chExt cx="698500" cy="812800"/>
          </a:xfrm>
        </p:grpSpPr>
        <p:sp>
          <p:nvSpPr>
            <p:cNvPr name="Freeform 11" id="11"/>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2" id="12"/>
            <p:cNvSpPr txBox="true"/>
            <p:nvPr/>
          </p:nvSpPr>
          <p:spPr>
            <a:xfrm>
              <a:off x="0" y="73025"/>
              <a:ext cx="698500" cy="600075"/>
            </a:xfrm>
            <a:prstGeom prst="rect">
              <a:avLst/>
            </a:prstGeom>
          </p:spPr>
          <p:txBody>
            <a:bodyPr anchor="ctr" rtlCol="false" tIns="50800" lIns="50800" bIns="50800" rIns="50800"/>
            <a:lstStyle/>
            <a:p>
              <a:pPr algn="ctr" marL="0" indent="0" lvl="0">
                <a:lnSpc>
                  <a:spcPts val="3917"/>
                </a:lnSpc>
              </a:pPr>
              <a:r>
                <a:rPr lang="en-US" sz="2798">
                  <a:solidFill>
                    <a:srgbClr val="FFFFFF"/>
                  </a:solidFill>
                  <a:latin typeface="Gotham"/>
                  <a:ea typeface="Gotham"/>
                  <a:cs typeface="Gotham"/>
                  <a:sym typeface="Gotham"/>
                </a:rPr>
                <a:t>11</a:t>
              </a:r>
            </a:p>
          </p:txBody>
        </p:sp>
      </p:grpSp>
      <p:sp>
        <p:nvSpPr>
          <p:cNvPr name="Freeform 13" id="13"/>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355401" y="2652572"/>
            <a:ext cx="7788599" cy="1762940"/>
          </a:xfrm>
          <a:prstGeom prst="rect">
            <a:avLst/>
          </a:prstGeom>
        </p:spPr>
        <p:txBody>
          <a:bodyPr anchor="t" rtlCol="false" tIns="0" lIns="0" bIns="0" rIns="0">
            <a:spAutoFit/>
          </a:bodyPr>
          <a:lstStyle/>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CLUSTERING RESULTS</a:t>
            </a:r>
          </a:p>
        </p:txBody>
      </p:sp>
      <p:sp>
        <p:nvSpPr>
          <p:cNvPr name="TextBox 15" id="15"/>
          <p:cNvSpPr txBox="true"/>
          <p:nvPr/>
        </p:nvSpPr>
        <p:spPr>
          <a:xfrm rot="0">
            <a:off x="1355401" y="4799788"/>
            <a:ext cx="7788599" cy="2910883"/>
          </a:xfrm>
          <a:prstGeom prst="rect">
            <a:avLst/>
          </a:prstGeom>
        </p:spPr>
        <p:txBody>
          <a:bodyPr anchor="t" rtlCol="false" tIns="0" lIns="0" bIns="0" rIns="0">
            <a:spAutoFit/>
          </a:bodyPr>
          <a:lstStyle/>
          <a:p>
            <a:pPr algn="l" marL="0" indent="0" lvl="0">
              <a:lnSpc>
                <a:spcPts val="3357"/>
              </a:lnSpc>
              <a:spcBef>
                <a:spcPct val="0"/>
              </a:spcBef>
            </a:pPr>
            <a:r>
              <a:rPr lang="en-US" sz="2398" spc="-23">
                <a:solidFill>
                  <a:srgbClr val="000000"/>
                </a:solidFill>
                <a:latin typeface="Garet"/>
                <a:ea typeface="Garet"/>
                <a:cs typeface="Garet"/>
                <a:sym typeface="Garet"/>
              </a:rPr>
              <a:t>Our analysis revealed clear distinct clusters identifying high, medium, and low solar production zones. The boxplot visualizations demonstrate significant separation between cluster groups across key metrics including total energy production, average output per project, and energy density.</a:t>
            </a:r>
          </a:p>
        </p:txBody>
      </p:sp>
      <p:grpSp>
        <p:nvGrpSpPr>
          <p:cNvPr name="Group 16" id="16"/>
          <p:cNvGrpSpPr/>
          <p:nvPr/>
        </p:nvGrpSpPr>
        <p:grpSpPr>
          <a:xfrm rot="0">
            <a:off x="16503740" y="2315621"/>
            <a:ext cx="1207069" cy="3086100"/>
            <a:chOff x="0" y="0"/>
            <a:chExt cx="317911" cy="812800"/>
          </a:xfrm>
        </p:grpSpPr>
        <p:sp>
          <p:nvSpPr>
            <p:cNvPr name="Freeform 17" id="17"/>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18" id="18"/>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374141" y="7200900"/>
            <a:ext cx="3342869" cy="3086100"/>
            <a:chOff x="0" y="0"/>
            <a:chExt cx="880427" cy="812800"/>
          </a:xfrm>
        </p:grpSpPr>
        <p:sp>
          <p:nvSpPr>
            <p:cNvPr name="Freeform 3" id="3"/>
            <p:cNvSpPr/>
            <p:nvPr/>
          </p:nvSpPr>
          <p:spPr>
            <a:xfrm flipH="false" flipV="false" rot="0">
              <a:off x="0" y="0"/>
              <a:ext cx="880426" cy="812800"/>
            </a:xfrm>
            <a:custGeom>
              <a:avLst/>
              <a:gdLst/>
              <a:ahLst/>
              <a:cxnLst/>
              <a:rect r="r" b="b" t="t" l="l"/>
              <a:pathLst>
                <a:path h="812800" w="880426">
                  <a:moveTo>
                    <a:pt x="0" y="0"/>
                  </a:moveTo>
                  <a:lnTo>
                    <a:pt x="880426" y="0"/>
                  </a:lnTo>
                  <a:lnTo>
                    <a:pt x="880426" y="812800"/>
                  </a:lnTo>
                  <a:lnTo>
                    <a:pt x="0" y="812800"/>
                  </a:lnTo>
                  <a:close/>
                </a:path>
              </a:pathLst>
            </a:custGeom>
            <a:solidFill>
              <a:srgbClr val="08A54C"/>
            </a:solidFill>
          </p:spPr>
        </p:sp>
        <p:sp>
          <p:nvSpPr>
            <p:cNvPr name="TextBox 4" id="4"/>
            <p:cNvSpPr txBox="true"/>
            <p:nvPr/>
          </p:nvSpPr>
          <p:spPr>
            <a:xfrm>
              <a:off x="0" y="-38100"/>
              <a:ext cx="880427" cy="850900"/>
            </a:xfrm>
            <a:prstGeom prst="rect">
              <a:avLst/>
            </a:prstGeom>
          </p:spPr>
          <p:txBody>
            <a:bodyPr anchor="ctr" rtlCol="false" tIns="50800" lIns="50800" bIns="50800" rIns="50800"/>
            <a:lstStyle/>
            <a:p>
              <a:pPr algn="ctr" marL="0" indent="0" lvl="0">
                <a:lnSpc>
                  <a:spcPts val="2940"/>
                </a:lnSpc>
              </a:pPr>
            </a:p>
          </p:txBody>
        </p:sp>
      </p:grpSp>
      <p:grpSp>
        <p:nvGrpSpPr>
          <p:cNvPr name="Group 5" id="5"/>
          <p:cNvGrpSpPr/>
          <p:nvPr/>
        </p:nvGrpSpPr>
        <p:grpSpPr>
          <a:xfrm rot="0">
            <a:off x="10659610" y="1028700"/>
            <a:ext cx="7628390" cy="8229600"/>
            <a:chOff x="0" y="0"/>
            <a:chExt cx="10171187" cy="10972800"/>
          </a:xfrm>
        </p:grpSpPr>
        <p:pic>
          <p:nvPicPr>
            <p:cNvPr name="Picture 6" id="6"/>
            <p:cNvPicPr>
              <a:picLocks noChangeAspect="true"/>
            </p:cNvPicPr>
            <p:nvPr/>
          </p:nvPicPr>
          <p:blipFill>
            <a:blip r:embed="rId2"/>
            <a:srcRect l="3652" t="0" r="3652" b="0"/>
            <a:stretch>
              <a:fillRect/>
            </a:stretch>
          </p:blipFill>
          <p:spPr>
            <a:xfrm flipH="false" flipV="false">
              <a:off x="0" y="0"/>
              <a:ext cx="10171187" cy="10972800"/>
            </a:xfrm>
            <a:prstGeom prst="rect">
              <a:avLst/>
            </a:prstGeom>
          </p:spPr>
        </p:pic>
      </p:grpSp>
      <p:grpSp>
        <p:nvGrpSpPr>
          <p:cNvPr name="Group 7" id="7"/>
          <p:cNvGrpSpPr/>
          <p:nvPr/>
        </p:nvGrpSpPr>
        <p:grpSpPr>
          <a:xfrm rot="0">
            <a:off x="16655766" y="389964"/>
            <a:ext cx="1207069" cy="3086100"/>
            <a:chOff x="0" y="0"/>
            <a:chExt cx="317911" cy="812800"/>
          </a:xfrm>
        </p:grpSpPr>
        <p:sp>
          <p:nvSpPr>
            <p:cNvPr name="Freeform 8" id="8"/>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9" id="9"/>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grpSp>
        <p:nvGrpSpPr>
          <p:cNvPr name="Group 10" id="10"/>
          <p:cNvGrpSpPr/>
          <p:nvPr/>
        </p:nvGrpSpPr>
        <p:grpSpPr>
          <a:xfrm rot="0">
            <a:off x="540532" y="8694910"/>
            <a:ext cx="1050645" cy="1222569"/>
            <a:chOff x="0" y="0"/>
            <a:chExt cx="698500" cy="812800"/>
          </a:xfrm>
        </p:grpSpPr>
        <p:sp>
          <p:nvSpPr>
            <p:cNvPr name="Freeform 11" id="11"/>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2" id="12"/>
            <p:cNvSpPr txBox="true"/>
            <p:nvPr/>
          </p:nvSpPr>
          <p:spPr>
            <a:xfrm>
              <a:off x="0" y="73025"/>
              <a:ext cx="698500" cy="600075"/>
            </a:xfrm>
            <a:prstGeom prst="rect">
              <a:avLst/>
            </a:prstGeom>
          </p:spPr>
          <p:txBody>
            <a:bodyPr anchor="ctr" rtlCol="false" tIns="50800" lIns="50800" bIns="50800" rIns="50800"/>
            <a:lstStyle/>
            <a:p>
              <a:pPr algn="ctr" marL="0" indent="0" lvl="0">
                <a:lnSpc>
                  <a:spcPts val="3917"/>
                </a:lnSpc>
              </a:pPr>
              <a:r>
                <a:rPr lang="en-US" sz="2798">
                  <a:solidFill>
                    <a:srgbClr val="FFFFFF"/>
                  </a:solidFill>
                  <a:latin typeface="Gotham"/>
                  <a:ea typeface="Gotham"/>
                  <a:cs typeface="Gotham"/>
                  <a:sym typeface="Gotham"/>
                </a:rPr>
                <a:t>12</a:t>
              </a:r>
            </a:p>
          </p:txBody>
        </p:sp>
      </p:grpSp>
      <p:sp>
        <p:nvSpPr>
          <p:cNvPr name="Freeform 13" id="13"/>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355401" y="2632657"/>
            <a:ext cx="7788599" cy="1762940"/>
          </a:xfrm>
          <a:prstGeom prst="rect">
            <a:avLst/>
          </a:prstGeom>
        </p:spPr>
        <p:txBody>
          <a:bodyPr anchor="t" rtlCol="false" tIns="0" lIns="0" bIns="0" rIns="0">
            <a:spAutoFit/>
          </a:bodyPr>
          <a:lstStyle/>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MAP VISUALIZATION</a:t>
            </a:r>
          </a:p>
        </p:txBody>
      </p:sp>
      <p:sp>
        <p:nvSpPr>
          <p:cNvPr name="TextBox 15" id="15"/>
          <p:cNvSpPr txBox="true"/>
          <p:nvPr/>
        </p:nvSpPr>
        <p:spPr>
          <a:xfrm rot="0">
            <a:off x="1355401" y="4819703"/>
            <a:ext cx="7788599" cy="2072683"/>
          </a:xfrm>
          <a:prstGeom prst="rect">
            <a:avLst/>
          </a:prstGeom>
        </p:spPr>
        <p:txBody>
          <a:bodyPr anchor="t" rtlCol="false" tIns="0" lIns="0" bIns="0" rIns="0">
            <a:spAutoFit/>
          </a:bodyPr>
          <a:lstStyle/>
          <a:p>
            <a:pPr algn="l" marL="0" indent="0" lvl="0">
              <a:lnSpc>
                <a:spcPts val="3357"/>
              </a:lnSpc>
              <a:spcBef>
                <a:spcPct val="0"/>
              </a:spcBef>
            </a:pPr>
            <a:r>
              <a:rPr lang="en-US" sz="2398" spc="-23">
                <a:solidFill>
                  <a:srgbClr val="000000"/>
                </a:solidFill>
                <a:latin typeface="Garet"/>
                <a:ea typeface="Garet"/>
                <a:cs typeface="Garet"/>
                <a:sym typeface="Garet"/>
              </a:rPr>
              <a:t>Interactive map concept showing cluster zones color-coded by production level: high production zones in yellow, medium zones in blue, and low production zones in gray for clear geographic insights.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11735" y="-1958643"/>
            <a:ext cx="10206042" cy="11876122"/>
            <a:chOff x="0" y="0"/>
            <a:chExt cx="698500" cy="812800"/>
          </a:xfrm>
        </p:grpSpPr>
        <p:sp>
          <p:nvSpPr>
            <p:cNvPr name="Freeform 3" id="3"/>
            <p:cNvSpPr/>
            <p:nvPr/>
          </p:nvSpPr>
          <p:spPr>
            <a:xfrm flipH="false" flipV="false" rot="0">
              <a:off x="0" y="5099"/>
              <a:ext cx="698500" cy="802601"/>
            </a:xfrm>
            <a:custGeom>
              <a:avLst/>
              <a:gdLst/>
              <a:ahLst/>
              <a:cxnLst/>
              <a:rect r="r" b="b" t="t" l="l"/>
              <a:pathLst>
                <a:path h="802601" w="698500">
                  <a:moveTo>
                    <a:pt x="365590" y="4408"/>
                  </a:moveTo>
                  <a:lnTo>
                    <a:pt x="682160" y="188594"/>
                  </a:lnTo>
                  <a:cubicBezTo>
                    <a:pt x="692276" y="194480"/>
                    <a:pt x="698500" y="205301"/>
                    <a:pt x="698500" y="217006"/>
                  </a:cubicBezTo>
                  <a:lnTo>
                    <a:pt x="698500" y="585596"/>
                  </a:lnTo>
                  <a:cubicBezTo>
                    <a:pt x="698500" y="597301"/>
                    <a:pt x="692276" y="608122"/>
                    <a:pt x="682160" y="614008"/>
                  </a:cubicBezTo>
                  <a:lnTo>
                    <a:pt x="365590" y="798194"/>
                  </a:lnTo>
                  <a:cubicBezTo>
                    <a:pt x="355489" y="804071"/>
                    <a:pt x="343011" y="804071"/>
                    <a:pt x="332910" y="798194"/>
                  </a:cubicBezTo>
                  <a:lnTo>
                    <a:pt x="16340" y="614008"/>
                  </a:lnTo>
                  <a:cubicBezTo>
                    <a:pt x="6224" y="608122"/>
                    <a:pt x="0" y="597301"/>
                    <a:pt x="0" y="585596"/>
                  </a:cubicBezTo>
                  <a:lnTo>
                    <a:pt x="0" y="217006"/>
                  </a:lnTo>
                  <a:cubicBezTo>
                    <a:pt x="0" y="205301"/>
                    <a:pt x="6224" y="194480"/>
                    <a:pt x="16340" y="188594"/>
                  </a:cubicBezTo>
                  <a:lnTo>
                    <a:pt x="332910" y="4408"/>
                  </a:lnTo>
                  <a:cubicBezTo>
                    <a:pt x="343011" y="-1469"/>
                    <a:pt x="355489" y="-1469"/>
                    <a:pt x="365590" y="4408"/>
                  </a:cubicBezTo>
                  <a:close/>
                </a:path>
              </a:pathLst>
            </a:custGeom>
            <a:solidFill>
              <a:srgbClr val="08A54C"/>
            </a:solidFill>
          </p:spPr>
        </p:sp>
        <p:sp>
          <p:nvSpPr>
            <p:cNvPr name="TextBox 4" id="4"/>
            <p:cNvSpPr txBox="true"/>
            <p:nvPr/>
          </p:nvSpPr>
          <p:spPr>
            <a:xfrm>
              <a:off x="0" y="63500"/>
              <a:ext cx="698500" cy="6096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9854611" y="-611389"/>
            <a:ext cx="3905835" cy="5801017"/>
            <a:chOff x="0" y="0"/>
            <a:chExt cx="5207779" cy="7734690"/>
          </a:xfrm>
        </p:grpSpPr>
        <p:pic>
          <p:nvPicPr>
            <p:cNvPr name="Picture 6" id="6"/>
            <p:cNvPicPr>
              <a:picLocks noChangeAspect="true"/>
            </p:cNvPicPr>
            <p:nvPr/>
          </p:nvPicPr>
          <p:blipFill>
            <a:blip r:embed="rId2"/>
            <a:srcRect l="33" t="0" r="33" b="0"/>
            <a:stretch>
              <a:fillRect/>
            </a:stretch>
          </p:blipFill>
          <p:spPr>
            <a:xfrm flipH="false" flipV="false">
              <a:off x="0" y="0"/>
              <a:ext cx="5207779" cy="7734690"/>
            </a:xfrm>
            <a:prstGeom prst="rect">
              <a:avLst/>
            </a:prstGeom>
          </p:spPr>
        </p:pic>
      </p:grpSp>
      <p:grpSp>
        <p:nvGrpSpPr>
          <p:cNvPr name="Group 7" id="7"/>
          <p:cNvGrpSpPr/>
          <p:nvPr/>
        </p:nvGrpSpPr>
        <p:grpSpPr>
          <a:xfrm rot="0">
            <a:off x="13977090" y="2087903"/>
            <a:ext cx="3475332" cy="6111193"/>
            <a:chOff x="0" y="0"/>
            <a:chExt cx="4633776" cy="8148258"/>
          </a:xfrm>
        </p:grpSpPr>
        <p:pic>
          <p:nvPicPr>
            <p:cNvPr name="Picture 8" id="8"/>
            <p:cNvPicPr>
              <a:picLocks noChangeAspect="true"/>
            </p:cNvPicPr>
            <p:nvPr/>
          </p:nvPicPr>
          <p:blipFill>
            <a:blip r:embed="rId3"/>
            <a:srcRect l="115" t="0" r="115" b="0"/>
            <a:stretch>
              <a:fillRect/>
            </a:stretch>
          </p:blipFill>
          <p:spPr>
            <a:xfrm flipH="false" flipV="false">
              <a:off x="0" y="0"/>
              <a:ext cx="4633776" cy="8148258"/>
            </a:xfrm>
            <a:prstGeom prst="rect">
              <a:avLst/>
            </a:prstGeom>
          </p:spPr>
        </p:pic>
      </p:grpSp>
      <p:grpSp>
        <p:nvGrpSpPr>
          <p:cNvPr name="Group 9" id="9"/>
          <p:cNvGrpSpPr/>
          <p:nvPr/>
        </p:nvGrpSpPr>
        <p:grpSpPr>
          <a:xfrm rot="0">
            <a:off x="9854611" y="5394620"/>
            <a:ext cx="3905835" cy="5446949"/>
            <a:chOff x="0" y="0"/>
            <a:chExt cx="5207779" cy="7262598"/>
          </a:xfrm>
        </p:grpSpPr>
        <p:pic>
          <p:nvPicPr>
            <p:cNvPr name="Picture 10" id="10"/>
            <p:cNvPicPr>
              <a:picLocks noChangeAspect="true"/>
            </p:cNvPicPr>
            <p:nvPr/>
          </p:nvPicPr>
          <p:blipFill>
            <a:blip r:embed="rId4"/>
            <a:srcRect l="1955" t="0" r="1955" b="0"/>
            <a:stretch>
              <a:fillRect/>
            </a:stretch>
          </p:blipFill>
          <p:spPr>
            <a:xfrm flipH="false" flipV="false">
              <a:off x="0" y="0"/>
              <a:ext cx="5207779" cy="7262598"/>
            </a:xfrm>
            <a:prstGeom prst="rect">
              <a:avLst/>
            </a:prstGeom>
          </p:spPr>
        </p:pic>
      </p:grpSp>
      <p:grpSp>
        <p:nvGrpSpPr>
          <p:cNvPr name="Group 11" id="11"/>
          <p:cNvGrpSpPr/>
          <p:nvPr/>
        </p:nvGrpSpPr>
        <p:grpSpPr>
          <a:xfrm rot="0">
            <a:off x="540532" y="8694910"/>
            <a:ext cx="1050645" cy="1222569"/>
            <a:chOff x="0" y="0"/>
            <a:chExt cx="698500" cy="812800"/>
          </a:xfrm>
        </p:grpSpPr>
        <p:sp>
          <p:nvSpPr>
            <p:cNvPr name="Freeform 12" id="12"/>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3" id="13"/>
            <p:cNvSpPr txBox="true"/>
            <p:nvPr/>
          </p:nvSpPr>
          <p:spPr>
            <a:xfrm>
              <a:off x="0" y="73025"/>
              <a:ext cx="698500" cy="600075"/>
            </a:xfrm>
            <a:prstGeom prst="rect">
              <a:avLst/>
            </a:prstGeom>
          </p:spPr>
          <p:txBody>
            <a:bodyPr anchor="ctr" rtlCol="false" tIns="50800" lIns="50800" bIns="50800" rIns="50800"/>
            <a:lstStyle/>
            <a:p>
              <a:pPr algn="ctr" marL="0" indent="0" lvl="0">
                <a:lnSpc>
                  <a:spcPts val="3919"/>
                </a:lnSpc>
              </a:pPr>
              <a:r>
                <a:rPr lang="en-US" sz="2799">
                  <a:solidFill>
                    <a:srgbClr val="FFFFFF"/>
                  </a:solidFill>
                  <a:latin typeface="Gotham"/>
                  <a:ea typeface="Gotham"/>
                  <a:cs typeface="Gotham"/>
                  <a:sym typeface="Gotham"/>
                </a:rPr>
                <a:t>13</a:t>
              </a:r>
            </a:p>
          </p:txBody>
        </p:sp>
      </p:grpSp>
      <p:sp>
        <p:nvSpPr>
          <p:cNvPr name="Freeform 14" id="14"/>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55401" y="2055231"/>
            <a:ext cx="7788599" cy="896239"/>
          </a:xfrm>
          <a:prstGeom prst="rect">
            <a:avLst/>
          </a:prstGeom>
        </p:spPr>
        <p:txBody>
          <a:bodyPr anchor="t" rtlCol="false" tIns="0" lIns="0" bIns="0" rIns="0">
            <a:spAutoFit/>
          </a:bodyPr>
          <a:lstStyle/>
          <a:p>
            <a:pPr algn="l" marL="0" indent="0" lvl="0">
              <a:lnSpc>
                <a:spcPts val="6847"/>
              </a:lnSpc>
              <a:spcBef>
                <a:spcPct val="0"/>
              </a:spcBef>
            </a:pPr>
            <a:r>
              <a:rPr lang="en-US" b="true" sz="6399" spc="-191" strike="noStrike" u="none">
                <a:solidFill>
                  <a:srgbClr val="08A54C"/>
                </a:solidFill>
                <a:latin typeface="Gotham Heavy"/>
                <a:ea typeface="Gotham Heavy"/>
                <a:cs typeface="Gotham Heavy"/>
                <a:sym typeface="Gotham Heavy"/>
              </a:rPr>
              <a:t>KEY INSIGHTS</a:t>
            </a:r>
          </a:p>
        </p:txBody>
      </p:sp>
      <p:sp>
        <p:nvSpPr>
          <p:cNvPr name="TextBox 16" id="16"/>
          <p:cNvSpPr txBox="true"/>
          <p:nvPr/>
        </p:nvSpPr>
        <p:spPr>
          <a:xfrm rot="0">
            <a:off x="1355401" y="4052199"/>
            <a:ext cx="7788599" cy="1244965"/>
          </a:xfrm>
          <a:prstGeom prst="rect">
            <a:avLst/>
          </a:prstGeom>
        </p:spPr>
        <p:txBody>
          <a:bodyPr anchor="t" rtlCol="false" tIns="0" lIns="0" bIns="0" rIns="0">
            <a:spAutoFit/>
          </a:bodyPr>
          <a:lstStyle/>
          <a:p>
            <a:pPr algn="l" marL="0" indent="0" lvl="0">
              <a:lnSpc>
                <a:spcPts val="3304"/>
              </a:lnSpc>
              <a:spcBef>
                <a:spcPct val="0"/>
              </a:spcBef>
            </a:pPr>
            <a:r>
              <a:rPr lang="en-US" b="true" sz="2360" spc="-23">
                <a:solidFill>
                  <a:srgbClr val="000000"/>
                </a:solidFill>
                <a:latin typeface="Garet Bold"/>
                <a:ea typeface="Garet Bold"/>
                <a:cs typeface="Garet Bold"/>
                <a:sym typeface="Garet Bold"/>
              </a:rPr>
              <a:t>High Production Zones: Analysis reveals clearly defined high-output solar regions with optimal conditions for energy generation and investment.</a:t>
            </a:r>
          </a:p>
        </p:txBody>
      </p:sp>
      <p:sp>
        <p:nvSpPr>
          <p:cNvPr name="TextBox 17" id="17"/>
          <p:cNvSpPr txBox="true"/>
          <p:nvPr/>
        </p:nvSpPr>
        <p:spPr>
          <a:xfrm rot="0">
            <a:off x="1355401" y="5558101"/>
            <a:ext cx="7788599" cy="1244965"/>
          </a:xfrm>
          <a:prstGeom prst="rect">
            <a:avLst/>
          </a:prstGeom>
        </p:spPr>
        <p:txBody>
          <a:bodyPr anchor="t" rtlCol="false" tIns="0" lIns="0" bIns="0" rIns="0">
            <a:spAutoFit/>
          </a:bodyPr>
          <a:lstStyle/>
          <a:p>
            <a:pPr algn="l" marL="0" indent="0" lvl="0">
              <a:lnSpc>
                <a:spcPts val="3304"/>
              </a:lnSpc>
              <a:spcBef>
                <a:spcPct val="0"/>
              </a:spcBef>
            </a:pPr>
            <a:r>
              <a:rPr lang="en-US" b="true" sz="2360" spc="-23">
                <a:solidFill>
                  <a:srgbClr val="000000"/>
                </a:solidFill>
                <a:latin typeface="Garet Bold"/>
                <a:ea typeface="Garet Bold"/>
                <a:cs typeface="Garet Bold"/>
                <a:sym typeface="Garet Bold"/>
              </a:rPr>
              <a:t>Low Production Zones: These areas demonstrate lower solar adoption rates and reduced energy output, requiring targeted intervention strategies.</a:t>
            </a:r>
          </a:p>
        </p:txBody>
      </p:sp>
      <p:sp>
        <p:nvSpPr>
          <p:cNvPr name="TextBox 18" id="18"/>
          <p:cNvSpPr txBox="true"/>
          <p:nvPr/>
        </p:nvSpPr>
        <p:spPr>
          <a:xfrm rot="0">
            <a:off x="1355401" y="7064004"/>
            <a:ext cx="7788599" cy="1244965"/>
          </a:xfrm>
          <a:prstGeom prst="rect">
            <a:avLst/>
          </a:prstGeom>
        </p:spPr>
        <p:txBody>
          <a:bodyPr anchor="t" rtlCol="false" tIns="0" lIns="0" bIns="0" rIns="0">
            <a:spAutoFit/>
          </a:bodyPr>
          <a:lstStyle/>
          <a:p>
            <a:pPr algn="l" marL="0" indent="0" lvl="0">
              <a:lnSpc>
                <a:spcPts val="3304"/>
              </a:lnSpc>
              <a:spcBef>
                <a:spcPct val="0"/>
              </a:spcBef>
            </a:pPr>
            <a:r>
              <a:rPr lang="en-US" b="true" sz="2360" spc="-23">
                <a:solidFill>
                  <a:srgbClr val="000000"/>
                </a:solidFill>
                <a:latin typeface="Garet Bold"/>
                <a:ea typeface="Garet Bold"/>
                <a:cs typeface="Garet Bold"/>
                <a:sym typeface="Garet Bold"/>
              </a:rPr>
              <a:t>Medium Production Zones: Identified as key growth opportunities with potential for expansion through strategic resource allocation.</a:t>
            </a:r>
          </a:p>
        </p:txBody>
      </p:sp>
      <p:grpSp>
        <p:nvGrpSpPr>
          <p:cNvPr name="Group 19" id="19"/>
          <p:cNvGrpSpPr/>
          <p:nvPr/>
        </p:nvGrpSpPr>
        <p:grpSpPr>
          <a:xfrm rot="0">
            <a:off x="11203994" y="3715966"/>
            <a:ext cx="1207069" cy="3086100"/>
            <a:chOff x="0" y="0"/>
            <a:chExt cx="317911" cy="812800"/>
          </a:xfrm>
        </p:grpSpPr>
        <p:sp>
          <p:nvSpPr>
            <p:cNvPr name="Freeform 20" id="20"/>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21" id="21"/>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45042" y="0"/>
            <a:ext cx="4042958" cy="3472627"/>
            <a:chOff x="0" y="0"/>
            <a:chExt cx="5390610" cy="4630169"/>
          </a:xfrm>
        </p:grpSpPr>
        <p:pic>
          <p:nvPicPr>
            <p:cNvPr name="Picture 3" id="3"/>
            <p:cNvPicPr>
              <a:picLocks noChangeAspect="true"/>
            </p:cNvPicPr>
            <p:nvPr/>
          </p:nvPicPr>
          <p:blipFill>
            <a:blip r:embed="rId2"/>
            <a:srcRect l="2921" t="0" r="2921" b="0"/>
            <a:stretch>
              <a:fillRect/>
            </a:stretch>
          </p:blipFill>
          <p:spPr>
            <a:xfrm flipH="false" flipV="false">
              <a:off x="0" y="0"/>
              <a:ext cx="5390610" cy="4630169"/>
            </a:xfrm>
            <a:prstGeom prst="rect">
              <a:avLst/>
            </a:prstGeom>
          </p:spPr>
        </p:pic>
      </p:grpSp>
      <p:grpSp>
        <p:nvGrpSpPr>
          <p:cNvPr name="Group 4" id="4"/>
          <p:cNvGrpSpPr/>
          <p:nvPr/>
        </p:nvGrpSpPr>
        <p:grpSpPr>
          <a:xfrm rot="0">
            <a:off x="10199273" y="0"/>
            <a:ext cx="4045770" cy="3472627"/>
            <a:chOff x="0" y="0"/>
            <a:chExt cx="1065553" cy="914601"/>
          </a:xfrm>
        </p:grpSpPr>
        <p:sp>
          <p:nvSpPr>
            <p:cNvPr name="Freeform 5" id="5"/>
            <p:cNvSpPr/>
            <p:nvPr/>
          </p:nvSpPr>
          <p:spPr>
            <a:xfrm flipH="false" flipV="false" rot="0">
              <a:off x="0" y="0"/>
              <a:ext cx="1065552" cy="914601"/>
            </a:xfrm>
            <a:custGeom>
              <a:avLst/>
              <a:gdLst/>
              <a:ahLst/>
              <a:cxnLst/>
              <a:rect r="r" b="b" t="t" l="l"/>
              <a:pathLst>
                <a:path h="914601" w="1065552">
                  <a:moveTo>
                    <a:pt x="0" y="0"/>
                  </a:moveTo>
                  <a:lnTo>
                    <a:pt x="1065552" y="0"/>
                  </a:lnTo>
                  <a:lnTo>
                    <a:pt x="1065552" y="914601"/>
                  </a:lnTo>
                  <a:lnTo>
                    <a:pt x="0" y="914601"/>
                  </a:lnTo>
                  <a:close/>
                </a:path>
              </a:pathLst>
            </a:custGeom>
            <a:solidFill>
              <a:srgbClr val="08A54C"/>
            </a:solidFill>
          </p:spPr>
        </p:sp>
        <p:sp>
          <p:nvSpPr>
            <p:cNvPr name="TextBox 6" id="6"/>
            <p:cNvSpPr txBox="true"/>
            <p:nvPr/>
          </p:nvSpPr>
          <p:spPr>
            <a:xfrm>
              <a:off x="0" y="-38100"/>
              <a:ext cx="1065553" cy="952701"/>
            </a:xfrm>
            <a:prstGeom prst="rect">
              <a:avLst/>
            </a:prstGeom>
          </p:spPr>
          <p:txBody>
            <a:bodyPr anchor="ctr" rtlCol="false" tIns="50800" lIns="50800" bIns="50800" rIns="50800"/>
            <a:lstStyle/>
            <a:p>
              <a:pPr algn="ctr" marL="0" indent="0" lvl="0">
                <a:lnSpc>
                  <a:spcPts val="2940"/>
                </a:lnSpc>
              </a:pPr>
            </a:p>
          </p:txBody>
        </p:sp>
      </p:grpSp>
      <p:grpSp>
        <p:nvGrpSpPr>
          <p:cNvPr name="Group 7" id="7"/>
          <p:cNvGrpSpPr/>
          <p:nvPr/>
        </p:nvGrpSpPr>
        <p:grpSpPr>
          <a:xfrm rot="0">
            <a:off x="10199273" y="3472627"/>
            <a:ext cx="4045770" cy="3472627"/>
            <a:chOff x="0" y="0"/>
            <a:chExt cx="5394360" cy="4630169"/>
          </a:xfrm>
        </p:grpSpPr>
        <p:pic>
          <p:nvPicPr>
            <p:cNvPr name="Picture 8" id="8"/>
            <p:cNvPicPr>
              <a:picLocks noChangeAspect="true"/>
            </p:cNvPicPr>
            <p:nvPr/>
          </p:nvPicPr>
          <p:blipFill>
            <a:blip r:embed="rId3"/>
            <a:srcRect l="2888" t="0" r="2888" b="0"/>
            <a:stretch>
              <a:fillRect/>
            </a:stretch>
          </p:blipFill>
          <p:spPr>
            <a:xfrm flipH="false" flipV="false">
              <a:off x="0" y="0"/>
              <a:ext cx="5394360" cy="4630169"/>
            </a:xfrm>
            <a:prstGeom prst="rect">
              <a:avLst/>
            </a:prstGeom>
          </p:spPr>
        </p:pic>
      </p:grpSp>
      <p:grpSp>
        <p:nvGrpSpPr>
          <p:cNvPr name="Group 9" id="9"/>
          <p:cNvGrpSpPr/>
          <p:nvPr/>
        </p:nvGrpSpPr>
        <p:grpSpPr>
          <a:xfrm rot="0">
            <a:off x="14245042" y="3472627"/>
            <a:ext cx="4115391" cy="3472627"/>
            <a:chOff x="0" y="0"/>
            <a:chExt cx="1083889" cy="914601"/>
          </a:xfrm>
        </p:grpSpPr>
        <p:sp>
          <p:nvSpPr>
            <p:cNvPr name="Freeform 10" id="10"/>
            <p:cNvSpPr/>
            <p:nvPr/>
          </p:nvSpPr>
          <p:spPr>
            <a:xfrm flipH="false" flipV="false" rot="0">
              <a:off x="0" y="0"/>
              <a:ext cx="1083889" cy="914601"/>
            </a:xfrm>
            <a:custGeom>
              <a:avLst/>
              <a:gdLst/>
              <a:ahLst/>
              <a:cxnLst/>
              <a:rect r="r" b="b" t="t" l="l"/>
              <a:pathLst>
                <a:path h="914601" w="1083889">
                  <a:moveTo>
                    <a:pt x="0" y="0"/>
                  </a:moveTo>
                  <a:lnTo>
                    <a:pt x="1083889" y="0"/>
                  </a:lnTo>
                  <a:lnTo>
                    <a:pt x="1083889" y="914601"/>
                  </a:lnTo>
                  <a:lnTo>
                    <a:pt x="0" y="914601"/>
                  </a:lnTo>
                  <a:close/>
                </a:path>
              </a:pathLst>
            </a:custGeom>
            <a:solidFill>
              <a:srgbClr val="F1C60B"/>
            </a:solidFill>
          </p:spPr>
        </p:sp>
        <p:sp>
          <p:nvSpPr>
            <p:cNvPr name="TextBox 11" id="11"/>
            <p:cNvSpPr txBox="true"/>
            <p:nvPr/>
          </p:nvSpPr>
          <p:spPr>
            <a:xfrm>
              <a:off x="0" y="-38100"/>
              <a:ext cx="1083889" cy="952701"/>
            </a:xfrm>
            <a:prstGeom prst="rect">
              <a:avLst/>
            </a:prstGeom>
          </p:spPr>
          <p:txBody>
            <a:bodyPr anchor="ctr" rtlCol="false" tIns="50800" lIns="50800" bIns="50800" rIns="50800"/>
            <a:lstStyle/>
            <a:p>
              <a:pPr algn="ctr" marL="0" indent="0" lvl="0">
                <a:lnSpc>
                  <a:spcPts val="2940"/>
                </a:lnSpc>
              </a:pPr>
            </a:p>
          </p:txBody>
        </p:sp>
      </p:grpSp>
      <p:grpSp>
        <p:nvGrpSpPr>
          <p:cNvPr name="Group 12" id="12"/>
          <p:cNvGrpSpPr/>
          <p:nvPr/>
        </p:nvGrpSpPr>
        <p:grpSpPr>
          <a:xfrm rot="0">
            <a:off x="10199273" y="6945254"/>
            <a:ext cx="4045770" cy="3472627"/>
            <a:chOff x="0" y="0"/>
            <a:chExt cx="1065553" cy="914601"/>
          </a:xfrm>
        </p:grpSpPr>
        <p:sp>
          <p:nvSpPr>
            <p:cNvPr name="Freeform 13" id="13"/>
            <p:cNvSpPr/>
            <p:nvPr/>
          </p:nvSpPr>
          <p:spPr>
            <a:xfrm flipH="false" flipV="false" rot="0">
              <a:off x="0" y="0"/>
              <a:ext cx="1065552" cy="914601"/>
            </a:xfrm>
            <a:custGeom>
              <a:avLst/>
              <a:gdLst/>
              <a:ahLst/>
              <a:cxnLst/>
              <a:rect r="r" b="b" t="t" l="l"/>
              <a:pathLst>
                <a:path h="914601" w="1065552">
                  <a:moveTo>
                    <a:pt x="0" y="0"/>
                  </a:moveTo>
                  <a:lnTo>
                    <a:pt x="1065552" y="0"/>
                  </a:lnTo>
                  <a:lnTo>
                    <a:pt x="1065552" y="914601"/>
                  </a:lnTo>
                  <a:lnTo>
                    <a:pt x="0" y="914601"/>
                  </a:lnTo>
                  <a:close/>
                </a:path>
              </a:pathLst>
            </a:custGeom>
            <a:solidFill>
              <a:srgbClr val="08A54C"/>
            </a:solidFill>
          </p:spPr>
        </p:sp>
        <p:sp>
          <p:nvSpPr>
            <p:cNvPr name="TextBox 14" id="14"/>
            <p:cNvSpPr txBox="true"/>
            <p:nvPr/>
          </p:nvSpPr>
          <p:spPr>
            <a:xfrm>
              <a:off x="0" y="-38100"/>
              <a:ext cx="1065553" cy="952701"/>
            </a:xfrm>
            <a:prstGeom prst="rect">
              <a:avLst/>
            </a:prstGeom>
          </p:spPr>
          <p:txBody>
            <a:bodyPr anchor="ctr" rtlCol="false" tIns="50800" lIns="50800" bIns="50800" rIns="50800"/>
            <a:lstStyle/>
            <a:p>
              <a:pPr algn="ctr" marL="0" indent="0" lvl="0">
                <a:lnSpc>
                  <a:spcPts val="2940"/>
                </a:lnSpc>
              </a:pPr>
            </a:p>
          </p:txBody>
        </p:sp>
      </p:grpSp>
      <p:grpSp>
        <p:nvGrpSpPr>
          <p:cNvPr name="Group 15" id="15"/>
          <p:cNvGrpSpPr/>
          <p:nvPr/>
        </p:nvGrpSpPr>
        <p:grpSpPr>
          <a:xfrm rot="0">
            <a:off x="14245042" y="6945254"/>
            <a:ext cx="4042958" cy="3472627"/>
            <a:chOff x="0" y="0"/>
            <a:chExt cx="5390610" cy="4630169"/>
          </a:xfrm>
        </p:grpSpPr>
        <p:pic>
          <p:nvPicPr>
            <p:cNvPr name="Picture 16" id="16"/>
            <p:cNvPicPr>
              <a:picLocks noChangeAspect="true"/>
            </p:cNvPicPr>
            <p:nvPr/>
          </p:nvPicPr>
          <p:blipFill>
            <a:blip r:embed="rId4"/>
            <a:srcRect l="2921" t="0" r="2921" b="0"/>
            <a:stretch>
              <a:fillRect/>
            </a:stretch>
          </p:blipFill>
          <p:spPr>
            <a:xfrm flipH="false" flipV="false">
              <a:off x="0" y="0"/>
              <a:ext cx="5390610" cy="4630169"/>
            </a:xfrm>
            <a:prstGeom prst="rect">
              <a:avLst/>
            </a:prstGeom>
          </p:spPr>
        </p:pic>
      </p:grpSp>
      <p:grpSp>
        <p:nvGrpSpPr>
          <p:cNvPr name="Group 17" id="17"/>
          <p:cNvGrpSpPr/>
          <p:nvPr/>
        </p:nvGrpSpPr>
        <p:grpSpPr>
          <a:xfrm rot="0">
            <a:off x="540532" y="8694910"/>
            <a:ext cx="1050645" cy="1222569"/>
            <a:chOff x="0" y="0"/>
            <a:chExt cx="698500" cy="812800"/>
          </a:xfrm>
        </p:grpSpPr>
        <p:sp>
          <p:nvSpPr>
            <p:cNvPr name="Freeform 18" id="18"/>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9" id="19"/>
            <p:cNvSpPr txBox="true"/>
            <p:nvPr/>
          </p:nvSpPr>
          <p:spPr>
            <a:xfrm>
              <a:off x="0" y="73025"/>
              <a:ext cx="698500" cy="600075"/>
            </a:xfrm>
            <a:prstGeom prst="rect">
              <a:avLst/>
            </a:prstGeom>
          </p:spPr>
          <p:txBody>
            <a:bodyPr anchor="ctr" rtlCol="false" tIns="50800" lIns="50800" bIns="50800" rIns="50800"/>
            <a:lstStyle/>
            <a:p>
              <a:pPr algn="ctr" marL="0" indent="0" lvl="0">
                <a:lnSpc>
                  <a:spcPts val="3919"/>
                </a:lnSpc>
              </a:pPr>
              <a:r>
                <a:rPr lang="en-US" sz="2799">
                  <a:solidFill>
                    <a:srgbClr val="FFFFFF"/>
                  </a:solidFill>
                  <a:latin typeface="Gotham"/>
                  <a:ea typeface="Gotham"/>
                  <a:cs typeface="Gotham"/>
                  <a:sym typeface="Gotham"/>
                </a:rPr>
                <a:t>14</a:t>
              </a:r>
            </a:p>
          </p:txBody>
        </p:sp>
      </p:grpSp>
      <p:sp>
        <p:nvSpPr>
          <p:cNvPr name="Freeform 20" id="20"/>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355401" y="2632657"/>
            <a:ext cx="7788599" cy="896239"/>
          </a:xfrm>
          <a:prstGeom prst="rect">
            <a:avLst/>
          </a:prstGeom>
        </p:spPr>
        <p:txBody>
          <a:bodyPr anchor="t" rtlCol="false" tIns="0" lIns="0" bIns="0" rIns="0">
            <a:spAutoFit/>
          </a:bodyPr>
          <a:lstStyle/>
          <a:p>
            <a:pPr algn="l" marL="0" indent="0" lvl="0">
              <a:lnSpc>
                <a:spcPts val="6847"/>
              </a:lnSpc>
              <a:spcBef>
                <a:spcPct val="0"/>
              </a:spcBef>
            </a:pPr>
            <a:r>
              <a:rPr lang="en-US" b="true" sz="6399" spc="-191" strike="noStrike" u="none">
                <a:solidFill>
                  <a:srgbClr val="08A54C"/>
                </a:solidFill>
                <a:latin typeface="Gotham Heavy"/>
                <a:ea typeface="Gotham Heavy"/>
                <a:cs typeface="Gotham Heavy"/>
                <a:sym typeface="Gotham Heavy"/>
              </a:rPr>
              <a:t>BUSINESS IMPACT</a:t>
            </a:r>
          </a:p>
        </p:txBody>
      </p:sp>
      <p:sp>
        <p:nvSpPr>
          <p:cNvPr name="TextBox 22" id="22"/>
          <p:cNvSpPr txBox="true"/>
          <p:nvPr/>
        </p:nvSpPr>
        <p:spPr>
          <a:xfrm rot="0">
            <a:off x="1355401" y="4819703"/>
            <a:ext cx="7788599" cy="2491740"/>
          </a:xfrm>
          <a:prstGeom prst="rect">
            <a:avLst/>
          </a:prstGeom>
        </p:spPr>
        <p:txBody>
          <a:bodyPr anchor="t" rtlCol="false" tIns="0" lIns="0" bIns="0" rIns="0">
            <a:spAutoFit/>
          </a:bodyPr>
          <a:lstStyle/>
          <a:p>
            <a:pPr algn="l" marL="0" indent="0" lvl="0">
              <a:lnSpc>
                <a:spcPts val="3359"/>
              </a:lnSpc>
              <a:spcBef>
                <a:spcPct val="0"/>
              </a:spcBef>
            </a:pPr>
            <a:r>
              <a:rPr lang="en-US" sz="2400" spc="-24">
                <a:solidFill>
                  <a:srgbClr val="000000"/>
                </a:solidFill>
                <a:latin typeface="Garet"/>
                <a:ea typeface="Garet"/>
                <a:cs typeface="Garet"/>
                <a:sym typeface="Garet"/>
              </a:rPr>
              <a:t>The clustering analysis delivers significant business value by enabling better targeting of marketing and sales efforts toward high-potential solar zones. It supports efficient allocation of resources and improves strategic planning for solar project rollout.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11735" y="-1958643"/>
            <a:ext cx="10206042" cy="11876122"/>
            <a:chOff x="0" y="0"/>
            <a:chExt cx="698500" cy="812800"/>
          </a:xfrm>
        </p:grpSpPr>
        <p:sp>
          <p:nvSpPr>
            <p:cNvPr name="Freeform 3" id="3"/>
            <p:cNvSpPr/>
            <p:nvPr/>
          </p:nvSpPr>
          <p:spPr>
            <a:xfrm flipH="false" flipV="false" rot="0">
              <a:off x="0" y="5099"/>
              <a:ext cx="698500" cy="802601"/>
            </a:xfrm>
            <a:custGeom>
              <a:avLst/>
              <a:gdLst/>
              <a:ahLst/>
              <a:cxnLst/>
              <a:rect r="r" b="b" t="t" l="l"/>
              <a:pathLst>
                <a:path h="802601" w="698500">
                  <a:moveTo>
                    <a:pt x="365590" y="4408"/>
                  </a:moveTo>
                  <a:lnTo>
                    <a:pt x="682160" y="188594"/>
                  </a:lnTo>
                  <a:cubicBezTo>
                    <a:pt x="692276" y="194480"/>
                    <a:pt x="698500" y="205301"/>
                    <a:pt x="698500" y="217006"/>
                  </a:cubicBezTo>
                  <a:lnTo>
                    <a:pt x="698500" y="585596"/>
                  </a:lnTo>
                  <a:cubicBezTo>
                    <a:pt x="698500" y="597301"/>
                    <a:pt x="692276" y="608122"/>
                    <a:pt x="682160" y="614008"/>
                  </a:cubicBezTo>
                  <a:lnTo>
                    <a:pt x="365590" y="798194"/>
                  </a:lnTo>
                  <a:cubicBezTo>
                    <a:pt x="355489" y="804071"/>
                    <a:pt x="343011" y="804071"/>
                    <a:pt x="332910" y="798194"/>
                  </a:cubicBezTo>
                  <a:lnTo>
                    <a:pt x="16340" y="614008"/>
                  </a:lnTo>
                  <a:cubicBezTo>
                    <a:pt x="6224" y="608122"/>
                    <a:pt x="0" y="597301"/>
                    <a:pt x="0" y="585596"/>
                  </a:cubicBezTo>
                  <a:lnTo>
                    <a:pt x="0" y="217006"/>
                  </a:lnTo>
                  <a:cubicBezTo>
                    <a:pt x="0" y="205301"/>
                    <a:pt x="6224" y="194480"/>
                    <a:pt x="16340" y="188594"/>
                  </a:cubicBezTo>
                  <a:lnTo>
                    <a:pt x="332910" y="4408"/>
                  </a:lnTo>
                  <a:cubicBezTo>
                    <a:pt x="343011" y="-1469"/>
                    <a:pt x="355489" y="-1469"/>
                    <a:pt x="365590" y="4408"/>
                  </a:cubicBezTo>
                  <a:close/>
                </a:path>
              </a:pathLst>
            </a:custGeom>
            <a:solidFill>
              <a:srgbClr val="08A54C"/>
            </a:solidFill>
          </p:spPr>
        </p:sp>
        <p:sp>
          <p:nvSpPr>
            <p:cNvPr name="TextBox 4" id="4"/>
            <p:cNvSpPr txBox="true"/>
            <p:nvPr/>
          </p:nvSpPr>
          <p:spPr>
            <a:xfrm>
              <a:off x="0" y="63500"/>
              <a:ext cx="698500" cy="6096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9854611" y="-611389"/>
            <a:ext cx="3905835" cy="5801017"/>
            <a:chOff x="0" y="0"/>
            <a:chExt cx="5207779" cy="7734690"/>
          </a:xfrm>
        </p:grpSpPr>
        <p:pic>
          <p:nvPicPr>
            <p:cNvPr name="Picture 6" id="6"/>
            <p:cNvPicPr>
              <a:picLocks noChangeAspect="true"/>
            </p:cNvPicPr>
            <p:nvPr/>
          </p:nvPicPr>
          <p:blipFill>
            <a:blip r:embed="rId2"/>
            <a:srcRect l="33" t="0" r="33" b="0"/>
            <a:stretch>
              <a:fillRect/>
            </a:stretch>
          </p:blipFill>
          <p:spPr>
            <a:xfrm flipH="false" flipV="false">
              <a:off x="0" y="0"/>
              <a:ext cx="5207779" cy="7734690"/>
            </a:xfrm>
            <a:prstGeom prst="rect">
              <a:avLst/>
            </a:prstGeom>
          </p:spPr>
        </p:pic>
      </p:grpSp>
      <p:grpSp>
        <p:nvGrpSpPr>
          <p:cNvPr name="Group 7" id="7"/>
          <p:cNvGrpSpPr/>
          <p:nvPr/>
        </p:nvGrpSpPr>
        <p:grpSpPr>
          <a:xfrm rot="0">
            <a:off x="13977090" y="2087903"/>
            <a:ext cx="3475332" cy="6111193"/>
            <a:chOff x="0" y="0"/>
            <a:chExt cx="4633776" cy="8148258"/>
          </a:xfrm>
        </p:grpSpPr>
        <p:pic>
          <p:nvPicPr>
            <p:cNvPr name="Picture 8" id="8"/>
            <p:cNvPicPr>
              <a:picLocks noChangeAspect="true"/>
            </p:cNvPicPr>
            <p:nvPr/>
          </p:nvPicPr>
          <p:blipFill>
            <a:blip r:embed="rId3"/>
            <a:srcRect l="115" t="0" r="115" b="0"/>
            <a:stretch>
              <a:fillRect/>
            </a:stretch>
          </p:blipFill>
          <p:spPr>
            <a:xfrm flipH="false" flipV="false">
              <a:off x="0" y="0"/>
              <a:ext cx="4633776" cy="8148258"/>
            </a:xfrm>
            <a:prstGeom prst="rect">
              <a:avLst/>
            </a:prstGeom>
          </p:spPr>
        </p:pic>
      </p:grpSp>
      <p:grpSp>
        <p:nvGrpSpPr>
          <p:cNvPr name="Group 9" id="9"/>
          <p:cNvGrpSpPr/>
          <p:nvPr/>
        </p:nvGrpSpPr>
        <p:grpSpPr>
          <a:xfrm rot="0">
            <a:off x="9854611" y="5394620"/>
            <a:ext cx="3905835" cy="5446949"/>
            <a:chOff x="0" y="0"/>
            <a:chExt cx="5207779" cy="7262598"/>
          </a:xfrm>
        </p:grpSpPr>
        <p:pic>
          <p:nvPicPr>
            <p:cNvPr name="Picture 10" id="10"/>
            <p:cNvPicPr>
              <a:picLocks noChangeAspect="true"/>
            </p:cNvPicPr>
            <p:nvPr/>
          </p:nvPicPr>
          <p:blipFill>
            <a:blip r:embed="rId4"/>
            <a:srcRect l="1955" t="0" r="1955" b="0"/>
            <a:stretch>
              <a:fillRect/>
            </a:stretch>
          </p:blipFill>
          <p:spPr>
            <a:xfrm flipH="false" flipV="false">
              <a:off x="0" y="0"/>
              <a:ext cx="5207779" cy="7262598"/>
            </a:xfrm>
            <a:prstGeom prst="rect">
              <a:avLst/>
            </a:prstGeom>
          </p:spPr>
        </p:pic>
      </p:grpSp>
      <p:grpSp>
        <p:nvGrpSpPr>
          <p:cNvPr name="Group 11" id="11"/>
          <p:cNvGrpSpPr/>
          <p:nvPr/>
        </p:nvGrpSpPr>
        <p:grpSpPr>
          <a:xfrm rot="0">
            <a:off x="540532" y="8694910"/>
            <a:ext cx="1050645" cy="1222569"/>
            <a:chOff x="0" y="0"/>
            <a:chExt cx="698500" cy="812800"/>
          </a:xfrm>
        </p:grpSpPr>
        <p:sp>
          <p:nvSpPr>
            <p:cNvPr name="Freeform 12" id="12"/>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3" id="13"/>
            <p:cNvSpPr txBox="true"/>
            <p:nvPr/>
          </p:nvSpPr>
          <p:spPr>
            <a:xfrm>
              <a:off x="0" y="82550"/>
              <a:ext cx="698500" cy="590550"/>
            </a:xfrm>
            <a:prstGeom prst="rect">
              <a:avLst/>
            </a:prstGeom>
          </p:spPr>
          <p:txBody>
            <a:bodyPr anchor="ctr" rtlCol="false" tIns="50800" lIns="50800" bIns="50800" rIns="50800"/>
            <a:lstStyle/>
            <a:p>
              <a:pPr algn="ctr" marL="0" indent="0" lvl="0">
                <a:lnSpc>
                  <a:spcPts val="3629"/>
                </a:lnSpc>
              </a:pPr>
              <a:r>
                <a:rPr lang="en-US" sz="2592">
                  <a:solidFill>
                    <a:srgbClr val="FFFFFF"/>
                  </a:solidFill>
                  <a:latin typeface="Gotham"/>
                  <a:ea typeface="Gotham"/>
                  <a:cs typeface="Gotham"/>
                  <a:sym typeface="Gotham"/>
                </a:rPr>
                <a:t>15</a:t>
              </a:r>
            </a:p>
          </p:txBody>
        </p:sp>
      </p:grpSp>
      <p:sp>
        <p:nvSpPr>
          <p:cNvPr name="Freeform 14" id="14"/>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55401" y="2045706"/>
            <a:ext cx="7788599" cy="831247"/>
          </a:xfrm>
          <a:prstGeom prst="rect">
            <a:avLst/>
          </a:prstGeom>
        </p:spPr>
        <p:txBody>
          <a:bodyPr anchor="t" rtlCol="false" tIns="0" lIns="0" bIns="0" rIns="0">
            <a:spAutoFit/>
          </a:bodyPr>
          <a:lstStyle/>
          <a:p>
            <a:pPr algn="l" marL="0" indent="0" lvl="0">
              <a:lnSpc>
                <a:spcPts val="6339"/>
              </a:lnSpc>
              <a:spcBef>
                <a:spcPct val="0"/>
              </a:spcBef>
            </a:pPr>
            <a:r>
              <a:rPr lang="en-US" b="true" sz="5925" spc="-177" strike="noStrike" u="none">
                <a:solidFill>
                  <a:srgbClr val="08A54C"/>
                </a:solidFill>
                <a:latin typeface="Gotham Heavy"/>
                <a:ea typeface="Gotham Heavy"/>
                <a:cs typeface="Gotham Heavy"/>
                <a:sym typeface="Gotham Heavy"/>
              </a:rPr>
              <a:t>RECOMMENDATIONS</a:t>
            </a:r>
          </a:p>
        </p:txBody>
      </p:sp>
      <p:sp>
        <p:nvSpPr>
          <p:cNvPr name="TextBox 16" id="16"/>
          <p:cNvSpPr txBox="true"/>
          <p:nvPr/>
        </p:nvSpPr>
        <p:spPr>
          <a:xfrm rot="0">
            <a:off x="1355401" y="4061724"/>
            <a:ext cx="7788599" cy="1234802"/>
          </a:xfrm>
          <a:prstGeom prst="rect">
            <a:avLst/>
          </a:prstGeom>
        </p:spPr>
        <p:txBody>
          <a:bodyPr anchor="t" rtlCol="false" tIns="0" lIns="0" bIns="0" rIns="0">
            <a:spAutoFit/>
          </a:bodyPr>
          <a:lstStyle/>
          <a:p>
            <a:pPr algn="l" marL="0" indent="0" lvl="0">
              <a:lnSpc>
                <a:spcPts val="3340"/>
              </a:lnSpc>
              <a:spcBef>
                <a:spcPct val="0"/>
              </a:spcBef>
            </a:pPr>
            <a:r>
              <a:rPr lang="en-US" b="true" sz="2385" spc="-23">
                <a:solidFill>
                  <a:srgbClr val="000000"/>
                </a:solidFill>
                <a:latin typeface="Garet Bold"/>
                <a:ea typeface="Garet Bold"/>
                <a:cs typeface="Garet Bold"/>
                <a:sym typeface="Garet Bold"/>
              </a:rPr>
              <a:t>Focus on High Production Zones: Prioritize investments and resources in regions identified as high-production clusters for maximum ROI.</a:t>
            </a:r>
          </a:p>
        </p:txBody>
      </p:sp>
      <p:sp>
        <p:nvSpPr>
          <p:cNvPr name="TextBox 17" id="17"/>
          <p:cNvSpPr txBox="true"/>
          <p:nvPr/>
        </p:nvSpPr>
        <p:spPr>
          <a:xfrm rot="0">
            <a:off x="1355401" y="5567626"/>
            <a:ext cx="7788599" cy="1234802"/>
          </a:xfrm>
          <a:prstGeom prst="rect">
            <a:avLst/>
          </a:prstGeom>
        </p:spPr>
        <p:txBody>
          <a:bodyPr anchor="t" rtlCol="false" tIns="0" lIns="0" bIns="0" rIns="0">
            <a:spAutoFit/>
          </a:bodyPr>
          <a:lstStyle/>
          <a:p>
            <a:pPr algn="l" marL="0" indent="0" lvl="0">
              <a:lnSpc>
                <a:spcPts val="3340"/>
              </a:lnSpc>
              <a:spcBef>
                <a:spcPct val="0"/>
              </a:spcBef>
            </a:pPr>
            <a:r>
              <a:rPr lang="en-US" b="true" sz="2385" spc="-23">
                <a:solidFill>
                  <a:srgbClr val="000000"/>
                </a:solidFill>
                <a:latin typeface="Garet Bold"/>
                <a:ea typeface="Garet Bold"/>
                <a:cs typeface="Garet Bold"/>
                <a:sym typeface="Garet Bold"/>
              </a:rPr>
              <a:t>Expand in Medium Zones: Target medium-production areas for growth initiatives, marketing campaigns, and infrastructure development.</a:t>
            </a:r>
          </a:p>
        </p:txBody>
      </p:sp>
      <p:sp>
        <p:nvSpPr>
          <p:cNvPr name="TextBox 18" id="18"/>
          <p:cNvSpPr txBox="true"/>
          <p:nvPr/>
        </p:nvSpPr>
        <p:spPr>
          <a:xfrm rot="0">
            <a:off x="1355401" y="7073529"/>
            <a:ext cx="7788599" cy="1234802"/>
          </a:xfrm>
          <a:prstGeom prst="rect">
            <a:avLst/>
          </a:prstGeom>
        </p:spPr>
        <p:txBody>
          <a:bodyPr anchor="t" rtlCol="false" tIns="0" lIns="0" bIns="0" rIns="0">
            <a:spAutoFit/>
          </a:bodyPr>
          <a:lstStyle/>
          <a:p>
            <a:pPr algn="l" marL="0" indent="0" lvl="0">
              <a:lnSpc>
                <a:spcPts val="3340"/>
              </a:lnSpc>
              <a:spcBef>
                <a:spcPct val="0"/>
              </a:spcBef>
            </a:pPr>
            <a:r>
              <a:rPr lang="en-US" b="true" sz="2385" spc="-23">
                <a:solidFill>
                  <a:srgbClr val="000000"/>
                </a:solidFill>
                <a:latin typeface="Garet Bold"/>
                <a:ea typeface="Garet Bold"/>
                <a:cs typeface="Garet Bold"/>
                <a:sym typeface="Garet Bold"/>
              </a:rPr>
              <a:t>Analyze Before Low Zone Investment: Conduct deeper analysis of low-production zones before committing resources to understand barriers.</a:t>
            </a:r>
          </a:p>
        </p:txBody>
      </p:sp>
      <p:grpSp>
        <p:nvGrpSpPr>
          <p:cNvPr name="Group 19" id="19"/>
          <p:cNvGrpSpPr/>
          <p:nvPr/>
        </p:nvGrpSpPr>
        <p:grpSpPr>
          <a:xfrm rot="0">
            <a:off x="11203994" y="3715966"/>
            <a:ext cx="1207069" cy="3086100"/>
            <a:chOff x="0" y="0"/>
            <a:chExt cx="317911" cy="812800"/>
          </a:xfrm>
        </p:grpSpPr>
        <p:sp>
          <p:nvSpPr>
            <p:cNvPr name="Freeform 20" id="20"/>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21" id="21"/>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24140" y="0"/>
            <a:ext cx="7963860" cy="10287000"/>
            <a:chOff x="0" y="0"/>
            <a:chExt cx="10618480" cy="13716000"/>
          </a:xfrm>
        </p:grpSpPr>
        <p:pic>
          <p:nvPicPr>
            <p:cNvPr name="Picture 3" id="3"/>
            <p:cNvPicPr>
              <a:picLocks noChangeAspect="true"/>
            </p:cNvPicPr>
            <p:nvPr/>
          </p:nvPicPr>
          <p:blipFill>
            <a:blip r:embed="rId2"/>
            <a:srcRect l="0" t="1803" r="0" b="1803"/>
            <a:stretch>
              <a:fillRect/>
            </a:stretch>
          </p:blipFill>
          <p:spPr>
            <a:xfrm flipH="false" flipV="false">
              <a:off x="0" y="0"/>
              <a:ext cx="10618480" cy="13716000"/>
            </a:xfrm>
            <a:prstGeom prst="rect">
              <a:avLst/>
            </a:prstGeom>
          </p:spPr>
        </p:pic>
      </p:grpSp>
      <p:grpSp>
        <p:nvGrpSpPr>
          <p:cNvPr name="Group 4" id="4"/>
          <p:cNvGrpSpPr/>
          <p:nvPr/>
        </p:nvGrpSpPr>
        <p:grpSpPr>
          <a:xfrm rot="0">
            <a:off x="10324140" y="5739795"/>
            <a:ext cx="7433852" cy="3243613"/>
            <a:chOff x="0" y="0"/>
            <a:chExt cx="1957887" cy="854285"/>
          </a:xfrm>
        </p:grpSpPr>
        <p:sp>
          <p:nvSpPr>
            <p:cNvPr name="Freeform 5" id="5"/>
            <p:cNvSpPr/>
            <p:nvPr/>
          </p:nvSpPr>
          <p:spPr>
            <a:xfrm flipH="false" flipV="false" rot="0">
              <a:off x="0" y="0"/>
              <a:ext cx="1957887" cy="854285"/>
            </a:xfrm>
            <a:custGeom>
              <a:avLst/>
              <a:gdLst/>
              <a:ahLst/>
              <a:cxnLst/>
              <a:rect r="r" b="b" t="t" l="l"/>
              <a:pathLst>
                <a:path h="854285" w="1957887">
                  <a:moveTo>
                    <a:pt x="0" y="0"/>
                  </a:moveTo>
                  <a:lnTo>
                    <a:pt x="1957887" y="0"/>
                  </a:lnTo>
                  <a:lnTo>
                    <a:pt x="1957887" y="854285"/>
                  </a:lnTo>
                  <a:lnTo>
                    <a:pt x="0" y="854285"/>
                  </a:lnTo>
                  <a:close/>
                </a:path>
              </a:pathLst>
            </a:custGeom>
            <a:solidFill>
              <a:srgbClr val="08A54C"/>
            </a:solidFill>
            <a:ln cap="sq">
              <a:noFill/>
              <a:prstDash val="solid"/>
              <a:miter/>
            </a:ln>
          </p:spPr>
        </p:sp>
        <p:sp>
          <p:nvSpPr>
            <p:cNvPr name="TextBox 6" id="6"/>
            <p:cNvSpPr txBox="true"/>
            <p:nvPr/>
          </p:nvSpPr>
          <p:spPr>
            <a:xfrm>
              <a:off x="0" y="-47625"/>
              <a:ext cx="1957887" cy="901910"/>
            </a:xfrm>
            <a:prstGeom prst="rect">
              <a:avLst/>
            </a:prstGeom>
          </p:spPr>
          <p:txBody>
            <a:bodyPr anchor="ctr" rtlCol="false" tIns="50800" lIns="50800" bIns="50800" rIns="50800"/>
            <a:lstStyle/>
            <a:p>
              <a:pPr algn="ctr" marL="0" indent="0" lvl="0">
                <a:lnSpc>
                  <a:spcPts val="2659"/>
                </a:lnSpc>
              </a:pPr>
            </a:p>
          </p:txBody>
        </p:sp>
      </p:grpSp>
      <p:sp>
        <p:nvSpPr>
          <p:cNvPr name="Freeform 7" id="7"/>
          <p:cNvSpPr/>
          <p:nvPr/>
        </p:nvSpPr>
        <p:spPr>
          <a:xfrm flipH="false" flipV="false" rot="0">
            <a:off x="10993092" y="5250747"/>
            <a:ext cx="976970" cy="863632"/>
          </a:xfrm>
          <a:custGeom>
            <a:avLst/>
            <a:gdLst/>
            <a:ahLst/>
            <a:cxnLst/>
            <a:rect r="r" b="b" t="t" l="l"/>
            <a:pathLst>
              <a:path h="863632" w="976970">
                <a:moveTo>
                  <a:pt x="0" y="0"/>
                </a:moveTo>
                <a:lnTo>
                  <a:pt x="976970" y="0"/>
                </a:lnTo>
                <a:lnTo>
                  <a:pt x="976970" y="863632"/>
                </a:lnTo>
                <a:lnTo>
                  <a:pt x="0" y="863632"/>
                </a:lnTo>
                <a:lnTo>
                  <a:pt x="0" y="0"/>
                </a:lnTo>
                <a:close/>
              </a:path>
            </a:pathLst>
          </a:custGeom>
          <a:blipFill>
            <a:blip r:embed="rId3"/>
            <a:stretch>
              <a:fillRect l="0" t="0" r="0" b="0"/>
            </a:stretch>
          </a:blipFill>
        </p:spPr>
      </p:sp>
      <p:sp>
        <p:nvSpPr>
          <p:cNvPr name="TextBox 8" id="8"/>
          <p:cNvSpPr txBox="true"/>
          <p:nvPr/>
        </p:nvSpPr>
        <p:spPr>
          <a:xfrm rot="0">
            <a:off x="10998978" y="6513877"/>
            <a:ext cx="6084176" cy="1685925"/>
          </a:xfrm>
          <a:prstGeom prst="rect">
            <a:avLst/>
          </a:prstGeom>
        </p:spPr>
        <p:txBody>
          <a:bodyPr anchor="t" rtlCol="false" tIns="0" lIns="0" bIns="0" rIns="0">
            <a:spAutoFit/>
          </a:bodyPr>
          <a:lstStyle/>
          <a:p>
            <a:pPr algn="l" marL="0" indent="0" lvl="0">
              <a:lnSpc>
                <a:spcPts val="3357"/>
              </a:lnSpc>
            </a:pPr>
            <a:r>
              <a:rPr lang="en-US" sz="2798" spc="27">
                <a:solidFill>
                  <a:srgbClr val="FFFFFF"/>
                </a:solidFill>
                <a:latin typeface="Droid Serif"/>
                <a:ea typeface="Droid Serif"/>
                <a:cs typeface="Droid Serif"/>
                <a:sym typeface="Droid Serif"/>
              </a:rPr>
              <a:t>These limitations may impact clustering accuracy and should be considered when making strategic decisions based on our findings.</a:t>
            </a:r>
          </a:p>
        </p:txBody>
      </p:sp>
      <p:grpSp>
        <p:nvGrpSpPr>
          <p:cNvPr name="Group 9" id="9"/>
          <p:cNvGrpSpPr/>
          <p:nvPr/>
        </p:nvGrpSpPr>
        <p:grpSpPr>
          <a:xfrm rot="0">
            <a:off x="540532" y="8694910"/>
            <a:ext cx="1050645" cy="1222569"/>
            <a:chOff x="0" y="0"/>
            <a:chExt cx="698500" cy="812800"/>
          </a:xfrm>
        </p:grpSpPr>
        <p:sp>
          <p:nvSpPr>
            <p:cNvPr name="Freeform 10" id="10"/>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1" id="11"/>
            <p:cNvSpPr txBox="true"/>
            <p:nvPr/>
          </p:nvSpPr>
          <p:spPr>
            <a:xfrm>
              <a:off x="0" y="73025"/>
              <a:ext cx="698500" cy="600075"/>
            </a:xfrm>
            <a:prstGeom prst="rect">
              <a:avLst/>
            </a:prstGeom>
          </p:spPr>
          <p:txBody>
            <a:bodyPr anchor="ctr" rtlCol="false" tIns="50800" lIns="50800" bIns="50800" rIns="50800"/>
            <a:lstStyle/>
            <a:p>
              <a:pPr algn="ctr" marL="0" indent="0" lvl="0">
                <a:lnSpc>
                  <a:spcPts val="3919"/>
                </a:lnSpc>
              </a:pPr>
              <a:r>
                <a:rPr lang="en-US" sz="2799">
                  <a:solidFill>
                    <a:srgbClr val="FFFFFF"/>
                  </a:solidFill>
                  <a:latin typeface="Gotham"/>
                  <a:ea typeface="Gotham"/>
                  <a:cs typeface="Gotham"/>
                  <a:sym typeface="Gotham"/>
                </a:rPr>
                <a:t>16</a:t>
              </a:r>
            </a:p>
          </p:txBody>
        </p:sp>
      </p:grpSp>
      <p:sp>
        <p:nvSpPr>
          <p:cNvPr name="Freeform 12" id="12"/>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355401" y="2632657"/>
            <a:ext cx="7788599" cy="896239"/>
          </a:xfrm>
          <a:prstGeom prst="rect">
            <a:avLst/>
          </a:prstGeom>
        </p:spPr>
        <p:txBody>
          <a:bodyPr anchor="t" rtlCol="false" tIns="0" lIns="0" bIns="0" rIns="0">
            <a:spAutoFit/>
          </a:bodyPr>
          <a:lstStyle/>
          <a:p>
            <a:pPr algn="l" marL="0" indent="0" lvl="0">
              <a:lnSpc>
                <a:spcPts val="6847"/>
              </a:lnSpc>
            </a:pPr>
            <a:r>
              <a:rPr lang="en-US" b="true" sz="6399" spc="-191">
                <a:solidFill>
                  <a:srgbClr val="08A54C"/>
                </a:solidFill>
                <a:latin typeface="Gotham Heavy"/>
                <a:ea typeface="Gotham Heavy"/>
                <a:cs typeface="Gotham Heavy"/>
                <a:sym typeface="Gotham Heavy"/>
              </a:rPr>
              <a:t>LIMITATIONS</a:t>
            </a:r>
          </a:p>
        </p:txBody>
      </p:sp>
      <p:sp>
        <p:nvSpPr>
          <p:cNvPr name="TextBox 14" id="14"/>
          <p:cNvSpPr txBox="true"/>
          <p:nvPr/>
        </p:nvSpPr>
        <p:spPr>
          <a:xfrm rot="0">
            <a:off x="1355401" y="4680339"/>
            <a:ext cx="7788599" cy="2223173"/>
          </a:xfrm>
          <a:prstGeom prst="rect">
            <a:avLst/>
          </a:prstGeom>
        </p:spPr>
        <p:txBody>
          <a:bodyPr anchor="t" rtlCol="false" tIns="0" lIns="0" bIns="0" rIns="0">
            <a:spAutoFit/>
          </a:bodyPr>
          <a:lstStyle/>
          <a:p>
            <a:pPr algn="l" marL="0" indent="0" lvl="0">
              <a:lnSpc>
                <a:spcPts val="2937"/>
              </a:lnSpc>
              <a:spcBef>
                <a:spcPct val="0"/>
              </a:spcBef>
            </a:pPr>
            <a:r>
              <a:rPr lang="en-US" sz="2098" spc="-20">
                <a:solidFill>
                  <a:srgbClr val="000000"/>
                </a:solidFill>
                <a:latin typeface="Garet"/>
                <a:ea typeface="Garet"/>
                <a:cs typeface="Garet"/>
                <a:sym typeface="Garet"/>
              </a:rPr>
              <a:t>While our clustering analysis provides valuable insights, certain constraints should be acknowledged. The dataset is limited to available solar project records, which may not capture all installations in each region. Additionally, the absence of weather patterns, climate data, and policy variables limits the contextual depth of our analysis.</a:t>
            </a:r>
          </a:p>
        </p:txBody>
      </p:sp>
      <p:grpSp>
        <p:nvGrpSpPr>
          <p:cNvPr name="Group 15" id="15"/>
          <p:cNvGrpSpPr/>
          <p:nvPr/>
        </p:nvGrpSpPr>
        <p:grpSpPr>
          <a:xfrm rot="0">
            <a:off x="16655766" y="-931661"/>
            <a:ext cx="1207069" cy="3086100"/>
            <a:chOff x="0" y="0"/>
            <a:chExt cx="317911" cy="812800"/>
          </a:xfrm>
        </p:grpSpPr>
        <p:sp>
          <p:nvSpPr>
            <p:cNvPr name="Freeform 16" id="16"/>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17" id="17"/>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11735" y="-1958643"/>
            <a:ext cx="10206042" cy="11876122"/>
            <a:chOff x="0" y="0"/>
            <a:chExt cx="698500" cy="812800"/>
          </a:xfrm>
        </p:grpSpPr>
        <p:sp>
          <p:nvSpPr>
            <p:cNvPr name="Freeform 3" id="3"/>
            <p:cNvSpPr/>
            <p:nvPr/>
          </p:nvSpPr>
          <p:spPr>
            <a:xfrm flipH="false" flipV="false" rot="0">
              <a:off x="0" y="5099"/>
              <a:ext cx="698500" cy="802601"/>
            </a:xfrm>
            <a:custGeom>
              <a:avLst/>
              <a:gdLst/>
              <a:ahLst/>
              <a:cxnLst/>
              <a:rect r="r" b="b" t="t" l="l"/>
              <a:pathLst>
                <a:path h="802601" w="698500">
                  <a:moveTo>
                    <a:pt x="365590" y="4408"/>
                  </a:moveTo>
                  <a:lnTo>
                    <a:pt x="682160" y="188594"/>
                  </a:lnTo>
                  <a:cubicBezTo>
                    <a:pt x="692276" y="194480"/>
                    <a:pt x="698500" y="205301"/>
                    <a:pt x="698500" y="217006"/>
                  </a:cubicBezTo>
                  <a:lnTo>
                    <a:pt x="698500" y="585596"/>
                  </a:lnTo>
                  <a:cubicBezTo>
                    <a:pt x="698500" y="597301"/>
                    <a:pt x="692276" y="608122"/>
                    <a:pt x="682160" y="614008"/>
                  </a:cubicBezTo>
                  <a:lnTo>
                    <a:pt x="365590" y="798194"/>
                  </a:lnTo>
                  <a:cubicBezTo>
                    <a:pt x="355489" y="804071"/>
                    <a:pt x="343011" y="804071"/>
                    <a:pt x="332910" y="798194"/>
                  </a:cubicBezTo>
                  <a:lnTo>
                    <a:pt x="16340" y="614008"/>
                  </a:lnTo>
                  <a:cubicBezTo>
                    <a:pt x="6224" y="608122"/>
                    <a:pt x="0" y="597301"/>
                    <a:pt x="0" y="585596"/>
                  </a:cubicBezTo>
                  <a:lnTo>
                    <a:pt x="0" y="217006"/>
                  </a:lnTo>
                  <a:cubicBezTo>
                    <a:pt x="0" y="205301"/>
                    <a:pt x="6224" y="194480"/>
                    <a:pt x="16340" y="188594"/>
                  </a:cubicBezTo>
                  <a:lnTo>
                    <a:pt x="332910" y="4408"/>
                  </a:lnTo>
                  <a:cubicBezTo>
                    <a:pt x="343011" y="-1469"/>
                    <a:pt x="355489" y="-1469"/>
                    <a:pt x="365590" y="4408"/>
                  </a:cubicBezTo>
                  <a:close/>
                </a:path>
              </a:pathLst>
            </a:custGeom>
            <a:solidFill>
              <a:srgbClr val="08A54C"/>
            </a:solidFill>
          </p:spPr>
        </p:sp>
        <p:sp>
          <p:nvSpPr>
            <p:cNvPr name="TextBox 4" id="4"/>
            <p:cNvSpPr txBox="true"/>
            <p:nvPr/>
          </p:nvSpPr>
          <p:spPr>
            <a:xfrm>
              <a:off x="0" y="63500"/>
              <a:ext cx="698500" cy="6096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9854611" y="-611389"/>
            <a:ext cx="3905835" cy="5801017"/>
            <a:chOff x="0" y="0"/>
            <a:chExt cx="5207779" cy="7734690"/>
          </a:xfrm>
        </p:grpSpPr>
        <p:pic>
          <p:nvPicPr>
            <p:cNvPr name="Picture 6" id="6"/>
            <p:cNvPicPr>
              <a:picLocks noChangeAspect="true"/>
            </p:cNvPicPr>
            <p:nvPr/>
          </p:nvPicPr>
          <p:blipFill>
            <a:blip r:embed="rId2"/>
            <a:srcRect l="33" t="0" r="33" b="0"/>
            <a:stretch>
              <a:fillRect/>
            </a:stretch>
          </p:blipFill>
          <p:spPr>
            <a:xfrm flipH="false" flipV="false">
              <a:off x="0" y="0"/>
              <a:ext cx="5207779" cy="7734690"/>
            </a:xfrm>
            <a:prstGeom prst="rect">
              <a:avLst/>
            </a:prstGeom>
          </p:spPr>
        </p:pic>
      </p:grpSp>
      <p:grpSp>
        <p:nvGrpSpPr>
          <p:cNvPr name="Group 7" id="7"/>
          <p:cNvGrpSpPr/>
          <p:nvPr/>
        </p:nvGrpSpPr>
        <p:grpSpPr>
          <a:xfrm rot="0">
            <a:off x="13977090" y="2087903"/>
            <a:ext cx="3475332" cy="6111193"/>
            <a:chOff x="0" y="0"/>
            <a:chExt cx="4633776" cy="8148258"/>
          </a:xfrm>
        </p:grpSpPr>
        <p:pic>
          <p:nvPicPr>
            <p:cNvPr name="Picture 8" id="8"/>
            <p:cNvPicPr>
              <a:picLocks noChangeAspect="true"/>
            </p:cNvPicPr>
            <p:nvPr/>
          </p:nvPicPr>
          <p:blipFill>
            <a:blip r:embed="rId3"/>
            <a:srcRect l="115" t="0" r="115" b="0"/>
            <a:stretch>
              <a:fillRect/>
            </a:stretch>
          </p:blipFill>
          <p:spPr>
            <a:xfrm flipH="false" flipV="false">
              <a:off x="0" y="0"/>
              <a:ext cx="4633776" cy="8148258"/>
            </a:xfrm>
            <a:prstGeom prst="rect">
              <a:avLst/>
            </a:prstGeom>
          </p:spPr>
        </p:pic>
      </p:grpSp>
      <p:grpSp>
        <p:nvGrpSpPr>
          <p:cNvPr name="Group 9" id="9"/>
          <p:cNvGrpSpPr/>
          <p:nvPr/>
        </p:nvGrpSpPr>
        <p:grpSpPr>
          <a:xfrm rot="0">
            <a:off x="9854611" y="5394620"/>
            <a:ext cx="3905835" cy="5446949"/>
            <a:chOff x="0" y="0"/>
            <a:chExt cx="5207779" cy="7262598"/>
          </a:xfrm>
        </p:grpSpPr>
        <p:pic>
          <p:nvPicPr>
            <p:cNvPr name="Picture 10" id="10"/>
            <p:cNvPicPr>
              <a:picLocks noChangeAspect="true"/>
            </p:cNvPicPr>
            <p:nvPr/>
          </p:nvPicPr>
          <p:blipFill>
            <a:blip r:embed="rId4"/>
            <a:srcRect l="1955" t="0" r="1955" b="0"/>
            <a:stretch>
              <a:fillRect/>
            </a:stretch>
          </p:blipFill>
          <p:spPr>
            <a:xfrm flipH="false" flipV="false">
              <a:off x="0" y="0"/>
              <a:ext cx="5207779" cy="7262598"/>
            </a:xfrm>
            <a:prstGeom prst="rect">
              <a:avLst/>
            </a:prstGeom>
          </p:spPr>
        </p:pic>
      </p:grpSp>
      <p:grpSp>
        <p:nvGrpSpPr>
          <p:cNvPr name="Group 11" id="11"/>
          <p:cNvGrpSpPr/>
          <p:nvPr/>
        </p:nvGrpSpPr>
        <p:grpSpPr>
          <a:xfrm rot="0">
            <a:off x="540532" y="8694910"/>
            <a:ext cx="1050645" cy="1222569"/>
            <a:chOff x="0" y="0"/>
            <a:chExt cx="698500" cy="812800"/>
          </a:xfrm>
        </p:grpSpPr>
        <p:sp>
          <p:nvSpPr>
            <p:cNvPr name="Freeform 12" id="12"/>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3" id="13"/>
            <p:cNvSpPr txBox="true"/>
            <p:nvPr/>
          </p:nvSpPr>
          <p:spPr>
            <a:xfrm>
              <a:off x="0" y="73025"/>
              <a:ext cx="698500" cy="600075"/>
            </a:xfrm>
            <a:prstGeom prst="rect">
              <a:avLst/>
            </a:prstGeom>
          </p:spPr>
          <p:txBody>
            <a:bodyPr anchor="ctr" rtlCol="false" tIns="50800" lIns="50800" bIns="50800" rIns="50800"/>
            <a:lstStyle/>
            <a:p>
              <a:pPr algn="ctr" marL="0" indent="0" lvl="0">
                <a:lnSpc>
                  <a:spcPts val="3917"/>
                </a:lnSpc>
              </a:pPr>
              <a:r>
                <a:rPr lang="en-US" sz="2798">
                  <a:solidFill>
                    <a:srgbClr val="FFFFFF"/>
                  </a:solidFill>
                  <a:latin typeface="Gotham"/>
                  <a:ea typeface="Gotham"/>
                  <a:cs typeface="Gotham"/>
                  <a:sym typeface="Gotham"/>
                </a:rPr>
                <a:t>17</a:t>
              </a:r>
            </a:p>
          </p:txBody>
        </p:sp>
      </p:grpSp>
      <p:sp>
        <p:nvSpPr>
          <p:cNvPr name="Freeform 14" id="14"/>
          <p:cNvSpPr/>
          <p:nvPr/>
        </p:nvSpPr>
        <p:spPr>
          <a:xfrm flipH="false" flipV="false" rot="0">
            <a:off x="1355401" y="-611389"/>
            <a:ext cx="2228298" cy="1222779"/>
          </a:xfrm>
          <a:custGeom>
            <a:avLst/>
            <a:gdLst/>
            <a:ahLst/>
            <a:cxnLst/>
            <a:rect r="r" b="b" t="t" l="l"/>
            <a:pathLst>
              <a:path h="1222779" w="2228298">
                <a:moveTo>
                  <a:pt x="0" y="0"/>
                </a:moveTo>
                <a:lnTo>
                  <a:pt x="2228298" y="0"/>
                </a:lnTo>
                <a:lnTo>
                  <a:pt x="2228298" y="1222778"/>
                </a:lnTo>
                <a:lnTo>
                  <a:pt x="0" y="12227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55401" y="2055231"/>
            <a:ext cx="7788599" cy="1762940"/>
          </a:xfrm>
          <a:prstGeom prst="rect">
            <a:avLst/>
          </a:prstGeom>
        </p:spPr>
        <p:txBody>
          <a:bodyPr anchor="t" rtlCol="false" tIns="0" lIns="0" bIns="0" rIns="0">
            <a:spAutoFit/>
          </a:bodyPr>
          <a:lstStyle/>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FUTURE</a:t>
            </a:r>
          </a:p>
          <a:p>
            <a:pPr algn="l" marL="0" indent="0" lvl="0">
              <a:lnSpc>
                <a:spcPts val="6843"/>
              </a:lnSpc>
              <a:spcBef>
                <a:spcPct val="0"/>
              </a:spcBef>
            </a:pPr>
            <a:r>
              <a:rPr lang="en-US" b="true" sz="6395" spc="-191" strike="noStrike" u="none">
                <a:solidFill>
                  <a:srgbClr val="08A54C"/>
                </a:solidFill>
                <a:latin typeface="Gotham Heavy"/>
                <a:ea typeface="Gotham Heavy"/>
                <a:cs typeface="Gotham Heavy"/>
                <a:sym typeface="Gotham Heavy"/>
              </a:rPr>
              <a:t>SCOPE</a:t>
            </a:r>
          </a:p>
        </p:txBody>
      </p:sp>
      <p:sp>
        <p:nvSpPr>
          <p:cNvPr name="TextBox 16" id="16"/>
          <p:cNvSpPr txBox="true"/>
          <p:nvPr/>
        </p:nvSpPr>
        <p:spPr>
          <a:xfrm rot="0">
            <a:off x="1355401" y="4052199"/>
            <a:ext cx="7788599" cy="1081492"/>
          </a:xfrm>
          <a:prstGeom prst="rect">
            <a:avLst/>
          </a:prstGeom>
        </p:spPr>
        <p:txBody>
          <a:bodyPr anchor="t" rtlCol="false" tIns="0" lIns="0" bIns="0" rIns="0">
            <a:spAutoFit/>
          </a:bodyPr>
          <a:lstStyle/>
          <a:p>
            <a:pPr algn="l" marL="0" indent="0" lvl="0">
              <a:lnSpc>
                <a:spcPts val="2865"/>
              </a:lnSpc>
              <a:spcBef>
                <a:spcPct val="0"/>
              </a:spcBef>
            </a:pPr>
            <a:r>
              <a:rPr lang="en-US" b="true" sz="2046" spc="-20">
                <a:solidFill>
                  <a:srgbClr val="000000"/>
                </a:solidFill>
                <a:latin typeface="Garet Bold"/>
                <a:ea typeface="Garet Bold"/>
                <a:cs typeface="Garet Bold"/>
                <a:sym typeface="Garet Bold"/>
              </a:rPr>
              <a:t>Weather Integration: Incorporate weather and climate data to enhance clustering accuracy and provide environmental context for solar production patterns.</a:t>
            </a:r>
          </a:p>
        </p:txBody>
      </p:sp>
      <p:sp>
        <p:nvSpPr>
          <p:cNvPr name="TextBox 17" id="17"/>
          <p:cNvSpPr txBox="true"/>
          <p:nvPr/>
        </p:nvSpPr>
        <p:spPr>
          <a:xfrm rot="0">
            <a:off x="1355401" y="5558101"/>
            <a:ext cx="7788599" cy="1081492"/>
          </a:xfrm>
          <a:prstGeom prst="rect">
            <a:avLst/>
          </a:prstGeom>
        </p:spPr>
        <p:txBody>
          <a:bodyPr anchor="t" rtlCol="false" tIns="0" lIns="0" bIns="0" rIns="0">
            <a:spAutoFit/>
          </a:bodyPr>
          <a:lstStyle/>
          <a:p>
            <a:pPr algn="l" marL="0" indent="0" lvl="0">
              <a:lnSpc>
                <a:spcPts val="2865"/>
              </a:lnSpc>
              <a:spcBef>
                <a:spcPct val="0"/>
              </a:spcBef>
            </a:pPr>
            <a:r>
              <a:rPr lang="en-US" b="true" sz="2046" spc="-20">
                <a:solidFill>
                  <a:srgbClr val="000000"/>
                </a:solidFill>
                <a:latin typeface="Garet Bold"/>
                <a:ea typeface="Garet Bold"/>
                <a:cs typeface="Garet Bold"/>
                <a:sym typeface="Garet Bold"/>
              </a:rPr>
              <a:t>Interactive Dashboard: Develop a real-time interactive dashboard enabling stakeholders to explore cluster insights and monitor solar zone performance dynamically.</a:t>
            </a:r>
          </a:p>
        </p:txBody>
      </p:sp>
      <p:sp>
        <p:nvSpPr>
          <p:cNvPr name="TextBox 18" id="18"/>
          <p:cNvSpPr txBox="true"/>
          <p:nvPr/>
        </p:nvSpPr>
        <p:spPr>
          <a:xfrm rot="0">
            <a:off x="1355401" y="7064004"/>
            <a:ext cx="7788599" cy="1081492"/>
          </a:xfrm>
          <a:prstGeom prst="rect">
            <a:avLst/>
          </a:prstGeom>
        </p:spPr>
        <p:txBody>
          <a:bodyPr anchor="t" rtlCol="false" tIns="0" lIns="0" bIns="0" rIns="0">
            <a:spAutoFit/>
          </a:bodyPr>
          <a:lstStyle/>
          <a:p>
            <a:pPr algn="l" marL="0" indent="0" lvl="0">
              <a:lnSpc>
                <a:spcPts val="2865"/>
              </a:lnSpc>
              <a:spcBef>
                <a:spcPct val="0"/>
              </a:spcBef>
            </a:pPr>
            <a:r>
              <a:rPr lang="en-US" b="true" sz="2046" spc="-20">
                <a:solidFill>
                  <a:srgbClr val="000000"/>
                </a:solidFill>
                <a:latin typeface="Garet Bold"/>
                <a:ea typeface="Garet Bold"/>
                <a:cs typeface="Garet Bold"/>
                <a:sym typeface="Garet Bold"/>
              </a:rPr>
              <a:t>Advanced ML Models: Explore sophisticated machine learning algorithms such as DBSCAN and deep learning approaches for improved clustering precision.</a:t>
            </a:r>
          </a:p>
        </p:txBody>
      </p:sp>
      <p:grpSp>
        <p:nvGrpSpPr>
          <p:cNvPr name="Group 19" id="19"/>
          <p:cNvGrpSpPr/>
          <p:nvPr/>
        </p:nvGrpSpPr>
        <p:grpSpPr>
          <a:xfrm rot="0">
            <a:off x="11203994" y="3715966"/>
            <a:ext cx="1207069" cy="3086100"/>
            <a:chOff x="0" y="0"/>
            <a:chExt cx="317911" cy="812800"/>
          </a:xfrm>
        </p:grpSpPr>
        <p:sp>
          <p:nvSpPr>
            <p:cNvPr name="Freeform 20" id="20"/>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21" id="21"/>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34867" y="0"/>
            <a:ext cx="9053133" cy="10287000"/>
            <a:chOff x="0" y="0"/>
            <a:chExt cx="2384364" cy="2709333"/>
          </a:xfrm>
        </p:grpSpPr>
        <p:sp>
          <p:nvSpPr>
            <p:cNvPr name="Freeform 3" id="3"/>
            <p:cNvSpPr/>
            <p:nvPr/>
          </p:nvSpPr>
          <p:spPr>
            <a:xfrm flipH="false" flipV="false" rot="0">
              <a:off x="0" y="0"/>
              <a:ext cx="2384364" cy="2709333"/>
            </a:xfrm>
            <a:custGeom>
              <a:avLst/>
              <a:gdLst/>
              <a:ahLst/>
              <a:cxnLst/>
              <a:rect r="r" b="b" t="t" l="l"/>
              <a:pathLst>
                <a:path h="2709333" w="2384364">
                  <a:moveTo>
                    <a:pt x="0" y="0"/>
                  </a:moveTo>
                  <a:lnTo>
                    <a:pt x="2384364" y="0"/>
                  </a:lnTo>
                  <a:lnTo>
                    <a:pt x="2384364" y="2709333"/>
                  </a:lnTo>
                  <a:lnTo>
                    <a:pt x="0" y="2709333"/>
                  </a:lnTo>
                  <a:close/>
                </a:path>
              </a:pathLst>
            </a:custGeom>
            <a:solidFill>
              <a:srgbClr val="08A54C"/>
            </a:solidFill>
          </p:spPr>
        </p:sp>
        <p:sp>
          <p:nvSpPr>
            <p:cNvPr name="TextBox 4" id="4"/>
            <p:cNvSpPr txBox="true"/>
            <p:nvPr/>
          </p:nvSpPr>
          <p:spPr>
            <a:xfrm>
              <a:off x="0" y="-38100"/>
              <a:ext cx="2384364" cy="2747433"/>
            </a:xfrm>
            <a:prstGeom prst="rect">
              <a:avLst/>
            </a:prstGeom>
          </p:spPr>
          <p:txBody>
            <a:bodyPr anchor="ctr" rtlCol="false" tIns="50800" lIns="50800" bIns="50800" rIns="50800"/>
            <a:lstStyle/>
            <a:p>
              <a:pPr algn="ctr" marL="0" indent="0" lvl="0">
                <a:lnSpc>
                  <a:spcPts val="2940"/>
                </a:lnSpc>
              </a:pPr>
            </a:p>
          </p:txBody>
        </p:sp>
      </p:grpSp>
      <p:grpSp>
        <p:nvGrpSpPr>
          <p:cNvPr name="Group 5" id="5"/>
          <p:cNvGrpSpPr/>
          <p:nvPr/>
        </p:nvGrpSpPr>
        <p:grpSpPr>
          <a:xfrm rot="0">
            <a:off x="3204878" y="2422252"/>
            <a:ext cx="11878244" cy="5442496"/>
            <a:chOff x="0" y="0"/>
            <a:chExt cx="3128426" cy="1433415"/>
          </a:xfrm>
        </p:grpSpPr>
        <p:sp>
          <p:nvSpPr>
            <p:cNvPr name="Freeform 6" id="6"/>
            <p:cNvSpPr/>
            <p:nvPr/>
          </p:nvSpPr>
          <p:spPr>
            <a:xfrm flipH="false" flipV="false" rot="0">
              <a:off x="0" y="0"/>
              <a:ext cx="3128426" cy="1433415"/>
            </a:xfrm>
            <a:custGeom>
              <a:avLst/>
              <a:gdLst/>
              <a:ahLst/>
              <a:cxnLst/>
              <a:rect r="r" b="b" t="t" l="l"/>
              <a:pathLst>
                <a:path h="1433415" w="3128426">
                  <a:moveTo>
                    <a:pt x="0" y="0"/>
                  </a:moveTo>
                  <a:lnTo>
                    <a:pt x="3128426" y="0"/>
                  </a:lnTo>
                  <a:lnTo>
                    <a:pt x="3128426" y="1433415"/>
                  </a:lnTo>
                  <a:lnTo>
                    <a:pt x="0" y="1433415"/>
                  </a:lnTo>
                  <a:close/>
                </a:path>
              </a:pathLst>
            </a:custGeom>
            <a:solidFill>
              <a:srgbClr val="FFFFFF"/>
            </a:solidFill>
          </p:spPr>
        </p:sp>
        <p:sp>
          <p:nvSpPr>
            <p:cNvPr name="TextBox 7" id="7"/>
            <p:cNvSpPr txBox="true"/>
            <p:nvPr/>
          </p:nvSpPr>
          <p:spPr>
            <a:xfrm>
              <a:off x="0" y="-38100"/>
              <a:ext cx="3128426" cy="1471515"/>
            </a:xfrm>
            <a:prstGeom prst="rect">
              <a:avLst/>
            </a:prstGeom>
          </p:spPr>
          <p:txBody>
            <a:bodyPr anchor="ctr" rtlCol="false" tIns="50800" lIns="50800" bIns="50800" rIns="50800"/>
            <a:lstStyle/>
            <a:p>
              <a:pPr algn="ctr" marL="0" indent="0" lvl="0">
                <a:lnSpc>
                  <a:spcPts val="2940"/>
                </a:lnSpc>
              </a:pPr>
            </a:p>
          </p:txBody>
        </p:sp>
      </p:grpSp>
      <p:sp>
        <p:nvSpPr>
          <p:cNvPr name="AutoShape 8" id="8"/>
          <p:cNvSpPr/>
          <p:nvPr/>
        </p:nvSpPr>
        <p:spPr>
          <a:xfrm>
            <a:off x="-181733" y="1009650"/>
            <a:ext cx="18469733" cy="0"/>
          </a:xfrm>
          <a:prstGeom prst="line">
            <a:avLst/>
          </a:prstGeom>
          <a:ln cap="flat" w="19050">
            <a:solidFill>
              <a:srgbClr val="000000"/>
            </a:solidFill>
            <a:prstDash val="solid"/>
            <a:headEnd type="none" len="sm" w="sm"/>
            <a:tailEnd type="none" len="sm" w="sm"/>
          </a:ln>
        </p:spPr>
      </p:sp>
      <p:sp>
        <p:nvSpPr>
          <p:cNvPr name="AutoShape 9" id="9"/>
          <p:cNvSpPr/>
          <p:nvPr/>
        </p:nvSpPr>
        <p:spPr>
          <a:xfrm>
            <a:off x="0" y="9277350"/>
            <a:ext cx="18469733" cy="0"/>
          </a:xfrm>
          <a:prstGeom prst="line">
            <a:avLst/>
          </a:prstGeom>
          <a:ln cap="flat" w="19050">
            <a:solidFill>
              <a:srgbClr val="000000"/>
            </a:solidFill>
            <a:prstDash val="solid"/>
            <a:headEnd type="none" len="sm" w="sm"/>
            <a:tailEnd type="none" len="sm" w="sm"/>
          </a:ln>
        </p:spPr>
      </p:sp>
      <p:sp>
        <p:nvSpPr>
          <p:cNvPr name="AutoShape 10" id="10"/>
          <p:cNvSpPr/>
          <p:nvPr/>
        </p:nvSpPr>
        <p:spPr>
          <a:xfrm>
            <a:off x="1009650" y="-6168487"/>
            <a:ext cx="0" cy="18469733"/>
          </a:xfrm>
          <a:prstGeom prst="line">
            <a:avLst/>
          </a:prstGeom>
          <a:ln cap="flat" w="19050">
            <a:solidFill>
              <a:srgbClr val="000000"/>
            </a:solidFill>
            <a:prstDash val="solid"/>
            <a:headEnd type="none" len="sm" w="sm"/>
            <a:tailEnd type="none" len="sm" w="sm"/>
          </a:ln>
        </p:spPr>
      </p:sp>
      <p:sp>
        <p:nvSpPr>
          <p:cNvPr name="AutoShape 11" id="11"/>
          <p:cNvSpPr/>
          <p:nvPr/>
        </p:nvSpPr>
        <p:spPr>
          <a:xfrm>
            <a:off x="17278350" y="-6354280"/>
            <a:ext cx="0" cy="18469733"/>
          </a:xfrm>
          <a:prstGeom prst="line">
            <a:avLst/>
          </a:prstGeom>
          <a:ln cap="flat" w="19050">
            <a:solidFill>
              <a:srgbClr val="000000"/>
            </a:solidFill>
            <a:prstDash val="solid"/>
            <a:headEnd type="none" len="sm" w="sm"/>
            <a:tailEnd type="none" len="sm" w="sm"/>
          </a:ln>
        </p:spPr>
      </p:sp>
      <p:sp>
        <p:nvSpPr>
          <p:cNvPr name="Freeform 12" id="12"/>
          <p:cNvSpPr/>
          <p:nvPr/>
        </p:nvSpPr>
        <p:spPr>
          <a:xfrm flipH="false" flipV="false" rot="0">
            <a:off x="8656142" y="3292029"/>
            <a:ext cx="975716" cy="741544"/>
          </a:xfrm>
          <a:custGeom>
            <a:avLst/>
            <a:gdLst/>
            <a:ahLst/>
            <a:cxnLst/>
            <a:rect r="r" b="b" t="t" l="l"/>
            <a:pathLst>
              <a:path h="741544" w="975716">
                <a:moveTo>
                  <a:pt x="0" y="0"/>
                </a:moveTo>
                <a:lnTo>
                  <a:pt x="975716" y="0"/>
                </a:lnTo>
                <a:lnTo>
                  <a:pt x="975716" y="741544"/>
                </a:lnTo>
                <a:lnTo>
                  <a:pt x="0" y="741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919017" y="4442271"/>
            <a:ext cx="10449966" cy="2428875"/>
          </a:xfrm>
          <a:prstGeom prst="rect">
            <a:avLst/>
          </a:prstGeom>
        </p:spPr>
        <p:txBody>
          <a:bodyPr anchor="t" rtlCol="false" tIns="0" lIns="0" bIns="0" rIns="0">
            <a:spAutoFit/>
          </a:bodyPr>
          <a:lstStyle/>
          <a:p>
            <a:pPr algn="ctr" marL="0" indent="0" lvl="0">
              <a:lnSpc>
                <a:spcPts val="3837"/>
              </a:lnSpc>
            </a:pPr>
            <a:r>
              <a:rPr lang="en-US" sz="3197" i="true" spc="31">
                <a:solidFill>
                  <a:srgbClr val="000000"/>
                </a:solidFill>
                <a:latin typeface="Playfair Display Italics"/>
                <a:ea typeface="Playfair Display Italics"/>
                <a:cs typeface="Playfair Display Italics"/>
                <a:sym typeface="Playfair Display Italics"/>
              </a:rPr>
              <a:t>In conclusion, our clustering analysis successfully identified distinct high, medium, and low solar production zones. These data-driven insights enable strategic resource allocation and informed business decisions for solar energy investments.</a:t>
            </a:r>
          </a:p>
        </p:txBody>
      </p:sp>
      <p:grpSp>
        <p:nvGrpSpPr>
          <p:cNvPr name="Group 14" id="14"/>
          <p:cNvGrpSpPr/>
          <p:nvPr/>
        </p:nvGrpSpPr>
        <p:grpSpPr>
          <a:xfrm rot="0">
            <a:off x="540532" y="8694910"/>
            <a:ext cx="1050645" cy="1222569"/>
            <a:chOff x="0" y="0"/>
            <a:chExt cx="698500" cy="812800"/>
          </a:xfrm>
        </p:grpSpPr>
        <p:sp>
          <p:nvSpPr>
            <p:cNvPr name="Freeform 15" id="15"/>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6" id="16"/>
            <p:cNvSpPr txBox="true"/>
            <p:nvPr/>
          </p:nvSpPr>
          <p:spPr>
            <a:xfrm>
              <a:off x="0" y="73025"/>
              <a:ext cx="698500" cy="600075"/>
            </a:xfrm>
            <a:prstGeom prst="rect">
              <a:avLst/>
            </a:prstGeom>
          </p:spPr>
          <p:txBody>
            <a:bodyPr anchor="ctr" rtlCol="false" tIns="50800" lIns="50800" bIns="50800" rIns="50800"/>
            <a:lstStyle/>
            <a:p>
              <a:pPr algn="ctr" marL="0" indent="0" lvl="0">
                <a:lnSpc>
                  <a:spcPts val="3917"/>
                </a:lnSpc>
              </a:pPr>
              <a:r>
                <a:rPr lang="en-US" sz="2798">
                  <a:solidFill>
                    <a:srgbClr val="FFFFFF"/>
                  </a:solidFill>
                  <a:latin typeface="Gotham"/>
                  <a:ea typeface="Gotham"/>
                  <a:cs typeface="Gotham"/>
                  <a:sym typeface="Gotham"/>
                </a:rPr>
                <a:t>18</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031769" y="717391"/>
            <a:ext cx="12645074" cy="8852218"/>
            <a:chOff x="0" y="0"/>
            <a:chExt cx="3330390" cy="2331448"/>
          </a:xfrm>
        </p:grpSpPr>
        <p:sp>
          <p:nvSpPr>
            <p:cNvPr name="Freeform 3" id="3"/>
            <p:cNvSpPr/>
            <p:nvPr/>
          </p:nvSpPr>
          <p:spPr>
            <a:xfrm flipH="false" flipV="false" rot="0">
              <a:off x="0" y="0"/>
              <a:ext cx="3330390" cy="2331448"/>
            </a:xfrm>
            <a:custGeom>
              <a:avLst/>
              <a:gdLst/>
              <a:ahLst/>
              <a:cxnLst/>
              <a:rect r="r" b="b" t="t" l="l"/>
              <a:pathLst>
                <a:path h="2331448" w="3330390">
                  <a:moveTo>
                    <a:pt x="0" y="0"/>
                  </a:moveTo>
                  <a:lnTo>
                    <a:pt x="3330390" y="0"/>
                  </a:lnTo>
                  <a:lnTo>
                    <a:pt x="3330390" y="2331448"/>
                  </a:lnTo>
                  <a:lnTo>
                    <a:pt x="0" y="2331448"/>
                  </a:lnTo>
                  <a:close/>
                </a:path>
              </a:pathLst>
            </a:custGeom>
            <a:ln w="19050" cap="sq">
              <a:solidFill>
                <a:srgbClr val="000000"/>
              </a:solidFill>
              <a:prstDash val="solid"/>
              <a:miter/>
            </a:ln>
          </p:spPr>
        </p:sp>
        <p:sp>
          <p:nvSpPr>
            <p:cNvPr name="TextBox 4" id="4"/>
            <p:cNvSpPr txBox="true"/>
            <p:nvPr/>
          </p:nvSpPr>
          <p:spPr>
            <a:xfrm>
              <a:off x="0" y="-47625"/>
              <a:ext cx="3330390" cy="2379073"/>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8867367" y="3600450"/>
            <a:ext cx="8790426" cy="3086100"/>
            <a:chOff x="0" y="0"/>
            <a:chExt cx="2315174" cy="812800"/>
          </a:xfrm>
        </p:grpSpPr>
        <p:sp>
          <p:nvSpPr>
            <p:cNvPr name="Freeform 6" id="6"/>
            <p:cNvSpPr/>
            <p:nvPr/>
          </p:nvSpPr>
          <p:spPr>
            <a:xfrm flipH="false" flipV="false" rot="0">
              <a:off x="0" y="0"/>
              <a:ext cx="2315174" cy="812800"/>
            </a:xfrm>
            <a:custGeom>
              <a:avLst/>
              <a:gdLst/>
              <a:ahLst/>
              <a:cxnLst/>
              <a:rect r="r" b="b" t="t" l="l"/>
              <a:pathLst>
                <a:path h="812800" w="2315174">
                  <a:moveTo>
                    <a:pt x="0" y="0"/>
                  </a:moveTo>
                  <a:lnTo>
                    <a:pt x="2315174" y="0"/>
                  </a:lnTo>
                  <a:lnTo>
                    <a:pt x="2315174" y="812800"/>
                  </a:lnTo>
                  <a:lnTo>
                    <a:pt x="0" y="812800"/>
                  </a:lnTo>
                  <a:close/>
                </a:path>
              </a:pathLst>
            </a:custGeom>
            <a:solidFill>
              <a:srgbClr val="08A54C"/>
            </a:solidFill>
          </p:spPr>
        </p:sp>
        <p:sp>
          <p:nvSpPr>
            <p:cNvPr name="TextBox 7" id="7"/>
            <p:cNvSpPr txBox="true"/>
            <p:nvPr/>
          </p:nvSpPr>
          <p:spPr>
            <a:xfrm>
              <a:off x="0" y="-47625"/>
              <a:ext cx="2315174" cy="860425"/>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0" y="0"/>
            <a:ext cx="9144000" cy="10287000"/>
            <a:chOff x="0" y="0"/>
            <a:chExt cx="12192000" cy="13716000"/>
          </a:xfrm>
        </p:grpSpPr>
        <p:pic>
          <p:nvPicPr>
            <p:cNvPr name="Picture 9" id="9"/>
            <p:cNvPicPr>
              <a:picLocks noChangeAspect="true"/>
            </p:cNvPicPr>
            <p:nvPr/>
          </p:nvPicPr>
          <p:blipFill>
            <a:blip r:embed="rId2"/>
            <a:srcRect l="0" t="4507" r="0" b="4507"/>
            <a:stretch>
              <a:fillRect/>
            </a:stretch>
          </p:blipFill>
          <p:spPr>
            <a:xfrm flipH="false" flipV="false">
              <a:off x="0" y="0"/>
              <a:ext cx="12192000" cy="13716000"/>
            </a:xfrm>
            <a:prstGeom prst="rect">
              <a:avLst/>
            </a:prstGeom>
          </p:spPr>
        </p:pic>
      </p:grpSp>
      <p:sp>
        <p:nvSpPr>
          <p:cNvPr name="TextBox 10" id="10"/>
          <p:cNvSpPr txBox="true"/>
          <p:nvPr/>
        </p:nvSpPr>
        <p:spPr>
          <a:xfrm rot="0">
            <a:off x="10381632" y="4704906"/>
            <a:ext cx="5799996" cy="902984"/>
          </a:xfrm>
          <a:prstGeom prst="rect">
            <a:avLst/>
          </a:prstGeom>
        </p:spPr>
        <p:txBody>
          <a:bodyPr anchor="t" rtlCol="false" tIns="0" lIns="0" bIns="0" rIns="0">
            <a:spAutoFit/>
          </a:bodyPr>
          <a:lstStyle/>
          <a:p>
            <a:pPr algn="ctr" marL="0" indent="0" lvl="0">
              <a:lnSpc>
                <a:spcPts val="3581"/>
              </a:lnSpc>
              <a:spcBef>
                <a:spcPct val="0"/>
              </a:spcBef>
            </a:pPr>
            <a:r>
              <a:rPr lang="en-US" b="true" sz="3346" spc="-100" strike="noStrike" u="none">
                <a:solidFill>
                  <a:srgbClr val="FFFFFF"/>
                </a:solidFill>
                <a:latin typeface="Gotham Heavy"/>
                <a:ea typeface="Gotham Heavy"/>
                <a:cs typeface="Gotham Heavy"/>
                <a:sym typeface="Gotham Heavy"/>
              </a:rPr>
              <a:t>THANK YOU</a:t>
            </a:r>
          </a:p>
          <a:p>
            <a:pPr algn="ctr" marL="0" indent="0" lvl="0">
              <a:lnSpc>
                <a:spcPts val="3581"/>
              </a:lnSpc>
              <a:spcBef>
                <a:spcPct val="0"/>
              </a:spcBef>
            </a:pPr>
            <a:r>
              <a:rPr lang="en-US" b="true" sz="3346" spc="-100" strike="noStrike" u="none">
                <a:solidFill>
                  <a:srgbClr val="FFFFFF"/>
                </a:solidFill>
                <a:latin typeface="Gotham Heavy"/>
                <a:ea typeface="Gotham Heavy"/>
                <a:cs typeface="Gotham Heavy"/>
                <a:sym typeface="Gotham Heavy"/>
              </a:rPr>
              <a:t>QUESTIONS?</a:t>
            </a:r>
          </a:p>
        </p:txBody>
      </p:sp>
      <p:grpSp>
        <p:nvGrpSpPr>
          <p:cNvPr name="Group 11" id="11"/>
          <p:cNvGrpSpPr/>
          <p:nvPr/>
        </p:nvGrpSpPr>
        <p:grpSpPr>
          <a:xfrm rot="0">
            <a:off x="462320" y="-825659"/>
            <a:ext cx="1207069" cy="3086100"/>
            <a:chOff x="0" y="0"/>
            <a:chExt cx="317911" cy="812800"/>
          </a:xfrm>
        </p:grpSpPr>
        <p:sp>
          <p:nvSpPr>
            <p:cNvPr name="Freeform 12" id="12"/>
            <p:cNvSpPr/>
            <p:nvPr/>
          </p:nvSpPr>
          <p:spPr>
            <a:xfrm flipH="false" flipV="false" rot="0">
              <a:off x="0" y="0"/>
              <a:ext cx="317911" cy="812800"/>
            </a:xfrm>
            <a:custGeom>
              <a:avLst/>
              <a:gdLst/>
              <a:ahLst/>
              <a:cxnLst/>
              <a:rect r="r" b="b" t="t" l="l"/>
              <a:pathLst>
                <a:path h="812800" w="317911">
                  <a:moveTo>
                    <a:pt x="158956" y="0"/>
                  </a:moveTo>
                  <a:lnTo>
                    <a:pt x="158956" y="0"/>
                  </a:lnTo>
                  <a:cubicBezTo>
                    <a:pt x="201113" y="0"/>
                    <a:pt x="241544" y="16747"/>
                    <a:pt x="271354" y="46557"/>
                  </a:cubicBezTo>
                  <a:cubicBezTo>
                    <a:pt x="301164" y="76367"/>
                    <a:pt x="317911" y="116798"/>
                    <a:pt x="317911" y="158956"/>
                  </a:cubicBezTo>
                  <a:lnTo>
                    <a:pt x="317911" y="653844"/>
                  </a:lnTo>
                  <a:cubicBezTo>
                    <a:pt x="317911" y="696002"/>
                    <a:pt x="301164" y="736433"/>
                    <a:pt x="271354" y="766243"/>
                  </a:cubicBezTo>
                  <a:cubicBezTo>
                    <a:pt x="241544" y="796053"/>
                    <a:pt x="201113" y="812800"/>
                    <a:pt x="158956" y="812800"/>
                  </a:cubicBezTo>
                  <a:lnTo>
                    <a:pt x="158956" y="812800"/>
                  </a:lnTo>
                  <a:cubicBezTo>
                    <a:pt x="116798" y="812800"/>
                    <a:pt x="76367" y="796053"/>
                    <a:pt x="46557" y="766243"/>
                  </a:cubicBezTo>
                  <a:cubicBezTo>
                    <a:pt x="16747" y="736433"/>
                    <a:pt x="0" y="696002"/>
                    <a:pt x="0" y="653844"/>
                  </a:cubicBezTo>
                  <a:lnTo>
                    <a:pt x="0" y="158956"/>
                  </a:lnTo>
                  <a:cubicBezTo>
                    <a:pt x="0" y="116798"/>
                    <a:pt x="16747" y="76367"/>
                    <a:pt x="46557" y="46557"/>
                  </a:cubicBezTo>
                  <a:cubicBezTo>
                    <a:pt x="76367" y="16747"/>
                    <a:pt x="116798" y="0"/>
                    <a:pt x="158956" y="0"/>
                  </a:cubicBezTo>
                  <a:close/>
                </a:path>
              </a:pathLst>
            </a:custGeom>
            <a:solidFill>
              <a:srgbClr val="F1C60B"/>
            </a:solidFill>
          </p:spPr>
        </p:sp>
        <p:sp>
          <p:nvSpPr>
            <p:cNvPr name="TextBox 13" id="13"/>
            <p:cNvSpPr txBox="true"/>
            <p:nvPr/>
          </p:nvSpPr>
          <p:spPr>
            <a:xfrm>
              <a:off x="0" y="-38100"/>
              <a:ext cx="317911" cy="850900"/>
            </a:xfrm>
            <a:prstGeom prst="rect">
              <a:avLst/>
            </a:prstGeom>
          </p:spPr>
          <p:txBody>
            <a:bodyPr anchor="ctr" rtlCol="false" tIns="50800" lIns="50800" bIns="50800" rIns="50800"/>
            <a:lstStyle/>
            <a:p>
              <a:pPr algn="ctr" marL="0" indent="0" lvl="0">
                <a:lnSpc>
                  <a:spcPts val="2940"/>
                </a:lnSpc>
              </a:pPr>
            </a:p>
          </p:txBody>
        </p:sp>
      </p:grpSp>
      <p:grpSp>
        <p:nvGrpSpPr>
          <p:cNvPr name="Group 14" id="14"/>
          <p:cNvGrpSpPr/>
          <p:nvPr/>
        </p:nvGrpSpPr>
        <p:grpSpPr>
          <a:xfrm rot="0">
            <a:off x="540532" y="8694910"/>
            <a:ext cx="1050645" cy="1222569"/>
            <a:chOff x="0" y="0"/>
            <a:chExt cx="698500" cy="812800"/>
          </a:xfrm>
        </p:grpSpPr>
        <p:sp>
          <p:nvSpPr>
            <p:cNvPr name="Freeform 15" id="15"/>
            <p:cNvSpPr/>
            <p:nvPr/>
          </p:nvSpPr>
          <p:spPr>
            <a:xfrm flipH="false" flipV="false" rot="0">
              <a:off x="0" y="25622"/>
              <a:ext cx="698500" cy="761556"/>
            </a:xfrm>
            <a:custGeom>
              <a:avLst/>
              <a:gdLst/>
              <a:ahLst/>
              <a:cxnLst/>
              <a:rect r="r" b="b" t="t" l="l"/>
              <a:pathLst>
                <a:path h="761556" w="698500">
                  <a:moveTo>
                    <a:pt x="431352" y="22147"/>
                  </a:moveTo>
                  <a:lnTo>
                    <a:pt x="616398" y="129809"/>
                  </a:lnTo>
                  <a:cubicBezTo>
                    <a:pt x="667229" y="159384"/>
                    <a:pt x="698500" y="213757"/>
                    <a:pt x="698500" y="272566"/>
                  </a:cubicBezTo>
                  <a:lnTo>
                    <a:pt x="698500" y="488990"/>
                  </a:lnTo>
                  <a:cubicBezTo>
                    <a:pt x="698500" y="547799"/>
                    <a:pt x="667229" y="602172"/>
                    <a:pt x="616398" y="631747"/>
                  </a:cubicBezTo>
                  <a:lnTo>
                    <a:pt x="431352" y="739409"/>
                  </a:lnTo>
                  <a:cubicBezTo>
                    <a:pt x="380600" y="768938"/>
                    <a:pt x="317900" y="768938"/>
                    <a:pt x="267148" y="739409"/>
                  </a:cubicBezTo>
                  <a:lnTo>
                    <a:pt x="82102" y="631747"/>
                  </a:lnTo>
                  <a:cubicBezTo>
                    <a:pt x="31271" y="602172"/>
                    <a:pt x="0" y="547799"/>
                    <a:pt x="0" y="488990"/>
                  </a:cubicBezTo>
                  <a:lnTo>
                    <a:pt x="0" y="272566"/>
                  </a:lnTo>
                  <a:cubicBezTo>
                    <a:pt x="0" y="213757"/>
                    <a:pt x="31271" y="159384"/>
                    <a:pt x="82102" y="129809"/>
                  </a:cubicBezTo>
                  <a:lnTo>
                    <a:pt x="267148" y="22147"/>
                  </a:lnTo>
                  <a:cubicBezTo>
                    <a:pt x="317900" y="-7382"/>
                    <a:pt x="380600" y="-7382"/>
                    <a:pt x="431352" y="22147"/>
                  </a:cubicBezTo>
                  <a:close/>
                </a:path>
              </a:pathLst>
            </a:custGeom>
            <a:solidFill>
              <a:srgbClr val="08A54C"/>
            </a:solidFill>
          </p:spPr>
        </p:sp>
        <p:sp>
          <p:nvSpPr>
            <p:cNvPr name="TextBox 16" id="16"/>
            <p:cNvSpPr txBox="true"/>
            <p:nvPr/>
          </p:nvSpPr>
          <p:spPr>
            <a:xfrm>
              <a:off x="0" y="111125"/>
              <a:ext cx="698500" cy="561975"/>
            </a:xfrm>
            <a:prstGeom prst="rect">
              <a:avLst/>
            </a:prstGeom>
          </p:spPr>
          <p:txBody>
            <a:bodyPr anchor="ctr" rtlCol="false" tIns="50800" lIns="50800" bIns="50800" rIns="50800"/>
            <a:lstStyle/>
            <a:p>
              <a:pPr algn="ctr" marL="0" indent="0" lvl="0">
                <a:lnSpc>
                  <a:spcPts val="2050"/>
                </a:lnSpc>
              </a:pPr>
              <a:r>
                <a:rPr lang="en-US" sz="1464">
                  <a:solidFill>
                    <a:srgbClr val="FFFFFF"/>
                  </a:solidFill>
                  <a:latin typeface="Gotham"/>
                  <a:ea typeface="Gotham"/>
                  <a:cs typeface="Gotham"/>
                  <a:sym typeface="Gotham"/>
                </a:rPr>
                <a:t>19</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DAHGEPh0Q7I</dc:identifier>
  <dcterms:modified xsi:type="dcterms:W3CDTF">2011-08-01T06:04:30Z</dcterms:modified>
  <cp:revision>1</cp:revision>
  <dc:title>Solar Energy Clustering Analysis Summary</dc:title>
</cp:coreProperties>
</file>